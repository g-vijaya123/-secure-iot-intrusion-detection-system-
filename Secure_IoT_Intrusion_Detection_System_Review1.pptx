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4" r:id="rId2"/>
    <p:sldId id="263" r:id="rId3"/>
    <p:sldId id="265" r:id="rId4"/>
    <p:sldId id="266" r:id="rId5"/>
    <p:sldId id="267" r:id="rId6"/>
    <p:sldId id="268" r:id="rId7"/>
    <p:sldId id="269" r:id="rId8"/>
    <p:sldId id="270" r:id="rId9"/>
    <p:sldId id="271" r:id="rId10"/>
    <p:sldId id="272" r:id="rId11"/>
    <p:sldId id="273" r:id="rId12"/>
    <p:sldId id="274" r:id="rId13"/>
    <p:sldId id="275" r:id="rId14"/>
    <p:sldId id="276" r:id="rId15"/>
    <p:sldId id="277" r:id="rId16"/>
    <p:sldId id="278" r:id="rId17"/>
    <p:sldId id="279" r:id="rId18"/>
    <p:sldId id="280" r:id="rId19"/>
    <p:sldId id="28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7E69"/>
    <a:srgbClr val="EC7E32"/>
    <a:srgbClr val="E77E32"/>
    <a:srgbClr val="E77E69"/>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9"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010C68-B77B-4431-A0A7-693CF58E734A}" type="datetimeFigureOut">
              <a:rPr lang="en-IN" smtClean="0"/>
              <a:t>16-09-2026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2EA21-F04E-4710-B9FC-7A1962EBE760}" type="slidenum">
              <a:rPr lang="en-IN" smtClean="0"/>
              <a:t>‹#›</a:t>
            </a:fld>
            <a:endParaRPr lang="en-IN"/>
          </a:p>
        </p:txBody>
      </p:sp>
    </p:spTree>
    <p:extLst>
      <p:ext uri="{BB962C8B-B14F-4D97-AF65-F5344CB8AC3E}">
        <p14:creationId xmlns:p14="http://schemas.microsoft.com/office/powerpoint/2010/main" val="1337875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a:t>
            </a:fld>
            <a:endParaRPr lang="en-IN"/>
          </a:p>
        </p:txBody>
      </p:sp>
    </p:spTree>
    <p:extLst>
      <p:ext uri="{BB962C8B-B14F-4D97-AF65-F5344CB8AC3E}">
        <p14:creationId xmlns:p14="http://schemas.microsoft.com/office/powerpoint/2010/main" val="109264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2</a:t>
            </a:fld>
            <a:endParaRPr lang="en-IN"/>
          </a:p>
        </p:txBody>
      </p:sp>
    </p:spTree>
    <p:extLst>
      <p:ext uri="{BB962C8B-B14F-4D97-AF65-F5344CB8AC3E}">
        <p14:creationId xmlns:p14="http://schemas.microsoft.com/office/powerpoint/2010/main" val="1527245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3</a:t>
            </a:fld>
            <a:endParaRPr lang="en-IN"/>
          </a:p>
        </p:txBody>
      </p:sp>
    </p:spTree>
    <p:extLst>
      <p:ext uri="{BB962C8B-B14F-4D97-AF65-F5344CB8AC3E}">
        <p14:creationId xmlns:p14="http://schemas.microsoft.com/office/powerpoint/2010/main" val="30040579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4</a:t>
            </a:fld>
            <a:endParaRPr lang="en-IN"/>
          </a:p>
        </p:txBody>
      </p:sp>
    </p:spTree>
    <p:extLst>
      <p:ext uri="{BB962C8B-B14F-4D97-AF65-F5344CB8AC3E}">
        <p14:creationId xmlns:p14="http://schemas.microsoft.com/office/powerpoint/2010/main" val="13400167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5</a:t>
            </a:fld>
            <a:endParaRPr lang="en-IN"/>
          </a:p>
        </p:txBody>
      </p:sp>
    </p:spTree>
    <p:extLst>
      <p:ext uri="{BB962C8B-B14F-4D97-AF65-F5344CB8AC3E}">
        <p14:creationId xmlns:p14="http://schemas.microsoft.com/office/powerpoint/2010/main" val="1528908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6</a:t>
            </a:fld>
            <a:endParaRPr lang="en-IN"/>
          </a:p>
        </p:txBody>
      </p:sp>
    </p:spTree>
    <p:extLst>
      <p:ext uri="{BB962C8B-B14F-4D97-AF65-F5344CB8AC3E}">
        <p14:creationId xmlns:p14="http://schemas.microsoft.com/office/powerpoint/2010/main" val="36894807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7</a:t>
            </a:fld>
            <a:endParaRPr lang="en-IN"/>
          </a:p>
        </p:txBody>
      </p:sp>
    </p:spTree>
    <p:extLst>
      <p:ext uri="{BB962C8B-B14F-4D97-AF65-F5344CB8AC3E}">
        <p14:creationId xmlns:p14="http://schemas.microsoft.com/office/powerpoint/2010/main" val="15476075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8</a:t>
            </a:fld>
            <a:endParaRPr lang="en-IN"/>
          </a:p>
        </p:txBody>
      </p:sp>
    </p:spTree>
    <p:extLst>
      <p:ext uri="{BB962C8B-B14F-4D97-AF65-F5344CB8AC3E}">
        <p14:creationId xmlns:p14="http://schemas.microsoft.com/office/powerpoint/2010/main" val="1894836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9</a:t>
            </a:fld>
            <a:endParaRPr lang="en-IN"/>
          </a:p>
        </p:txBody>
      </p:sp>
    </p:spTree>
    <p:extLst>
      <p:ext uri="{BB962C8B-B14F-4D97-AF65-F5344CB8AC3E}">
        <p14:creationId xmlns:p14="http://schemas.microsoft.com/office/powerpoint/2010/main" val="23114264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10</a:t>
            </a:fld>
            <a:endParaRPr lang="en-IN"/>
          </a:p>
        </p:txBody>
      </p:sp>
    </p:spTree>
    <p:extLst>
      <p:ext uri="{BB962C8B-B14F-4D97-AF65-F5344CB8AC3E}">
        <p14:creationId xmlns:p14="http://schemas.microsoft.com/office/powerpoint/2010/main" val="25172576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11</a:t>
            </a:fld>
            <a:endParaRPr lang="en-IN"/>
          </a:p>
        </p:txBody>
      </p:sp>
    </p:spTree>
    <p:extLst>
      <p:ext uri="{BB962C8B-B14F-4D97-AF65-F5344CB8AC3E}">
        <p14:creationId xmlns:p14="http://schemas.microsoft.com/office/powerpoint/2010/main" val="744938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12</a:t>
            </a:fld>
            <a:endParaRPr lang="en-IN"/>
          </a:p>
        </p:txBody>
      </p:sp>
    </p:spTree>
    <p:extLst>
      <p:ext uri="{BB962C8B-B14F-4D97-AF65-F5344CB8AC3E}">
        <p14:creationId xmlns:p14="http://schemas.microsoft.com/office/powerpoint/2010/main" val="1449614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13</a:t>
            </a:fld>
            <a:endParaRPr lang="en-IN"/>
          </a:p>
        </p:txBody>
      </p:sp>
    </p:spTree>
    <p:extLst>
      <p:ext uri="{BB962C8B-B14F-4D97-AF65-F5344CB8AC3E}">
        <p14:creationId xmlns:p14="http://schemas.microsoft.com/office/powerpoint/2010/main" val="30589954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14</a:t>
            </a:fld>
            <a:endParaRPr lang="en-IN"/>
          </a:p>
        </p:txBody>
      </p:sp>
    </p:spTree>
    <p:extLst>
      <p:ext uri="{BB962C8B-B14F-4D97-AF65-F5344CB8AC3E}">
        <p14:creationId xmlns:p14="http://schemas.microsoft.com/office/powerpoint/2010/main" val="35818955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15</a:t>
            </a:fld>
            <a:endParaRPr lang="en-IN"/>
          </a:p>
        </p:txBody>
      </p:sp>
    </p:spTree>
    <p:extLst>
      <p:ext uri="{BB962C8B-B14F-4D97-AF65-F5344CB8AC3E}">
        <p14:creationId xmlns:p14="http://schemas.microsoft.com/office/powerpoint/2010/main" val="329621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16</a:t>
            </a:fld>
            <a:endParaRPr lang="en-IN"/>
          </a:p>
        </p:txBody>
      </p:sp>
    </p:spTree>
    <p:extLst>
      <p:ext uri="{BB962C8B-B14F-4D97-AF65-F5344CB8AC3E}">
        <p14:creationId xmlns:p14="http://schemas.microsoft.com/office/powerpoint/2010/main" val="5816996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17</a:t>
            </a:fld>
            <a:endParaRPr lang="en-IN"/>
          </a:p>
        </p:txBody>
      </p:sp>
    </p:spTree>
    <p:extLst>
      <p:ext uri="{BB962C8B-B14F-4D97-AF65-F5344CB8AC3E}">
        <p14:creationId xmlns:p14="http://schemas.microsoft.com/office/powerpoint/2010/main" val="4212337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18</a:t>
            </a:fld>
            <a:endParaRPr lang="en-IN"/>
          </a:p>
        </p:txBody>
      </p:sp>
    </p:spTree>
    <p:extLst>
      <p:ext uri="{BB962C8B-B14F-4D97-AF65-F5344CB8AC3E}">
        <p14:creationId xmlns:p14="http://schemas.microsoft.com/office/powerpoint/2010/main" val="802416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DB2EA21-F04E-4710-B9FC-7A1962EBE760}" type="slidenum">
              <a:rPr lang="en-IN" smtClean="0"/>
              <a:t>19</a:t>
            </a:fld>
            <a:endParaRPr lang="en-IN"/>
          </a:p>
        </p:txBody>
      </p:sp>
    </p:spTree>
    <p:extLst>
      <p:ext uri="{BB962C8B-B14F-4D97-AF65-F5344CB8AC3E}">
        <p14:creationId xmlns:p14="http://schemas.microsoft.com/office/powerpoint/2010/main" val="342913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7534E-BF6C-2CFD-16E9-84EA617213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280B7E-AAA9-C962-786B-78A0B50E6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2E0A7F-5868-6266-DF6E-1BBFCC073A0F}"/>
              </a:ext>
            </a:extLst>
          </p:cNvPr>
          <p:cNvSpPr>
            <a:spLocks noGrp="1"/>
          </p:cNvSpPr>
          <p:nvPr>
            <p:ph type="dt" sz="half" idx="10"/>
          </p:nvPr>
        </p:nvSpPr>
        <p:spPr/>
        <p:txBody>
          <a:bodyPr/>
          <a:lstStyle/>
          <a:p>
            <a:fld id="{6F881051-4A15-4975-B283-5AE4382EA000}" type="datetime1">
              <a:rPr lang="en-IN" smtClean="0"/>
              <a:t>16-09-2026</a:t>
            </a:fld>
            <a:endParaRPr lang="en-IN"/>
          </a:p>
        </p:txBody>
      </p:sp>
      <p:sp>
        <p:nvSpPr>
          <p:cNvPr id="5" name="Footer Placeholder 4">
            <a:extLst>
              <a:ext uri="{FF2B5EF4-FFF2-40B4-BE49-F238E27FC236}">
                <a16:creationId xmlns:a16="http://schemas.microsoft.com/office/drawing/2014/main" id="{F7B2573E-23F6-BE97-E5F6-D90496C55B87}"/>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D7E5366-8A91-F195-6550-6C84F49F44A2}"/>
              </a:ext>
            </a:extLst>
          </p:cNvPr>
          <p:cNvSpPr>
            <a:spLocks noGrp="1"/>
          </p:cNvSpPr>
          <p:nvPr>
            <p:ph type="sldNum" sz="quarter" idx="12"/>
          </p:nvPr>
        </p:nvSpPr>
        <p:spPr/>
        <p:txBody>
          <a:bodyPr/>
          <a:lstStyle/>
          <a:p>
            <a:r>
              <a:rPr lang="en-IN" dirty="0"/>
              <a:t>Slide </a:t>
            </a:r>
            <a:fld id="{0F06A4E2-163B-4ABA-8562-AD05AC3F17C5}" type="slidenum">
              <a:rPr lang="en-IN" smtClean="0"/>
              <a:pPr/>
              <a:t>‹#›</a:t>
            </a:fld>
            <a:r>
              <a:rPr lang="en-IN" dirty="0"/>
              <a:t> 75</a:t>
            </a:r>
          </a:p>
        </p:txBody>
      </p:sp>
    </p:spTree>
    <p:extLst>
      <p:ext uri="{BB962C8B-B14F-4D97-AF65-F5344CB8AC3E}">
        <p14:creationId xmlns:p14="http://schemas.microsoft.com/office/powerpoint/2010/main" val="17875112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9E308-5323-AE5D-6FA7-ED71A6BAE3B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A451D-BD97-7FD0-FF0C-A5112C679A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691E600-3BBF-7179-64F8-7BF678584D79}"/>
              </a:ext>
            </a:extLst>
          </p:cNvPr>
          <p:cNvSpPr>
            <a:spLocks noGrp="1"/>
          </p:cNvSpPr>
          <p:nvPr>
            <p:ph type="dt" sz="half" idx="10"/>
          </p:nvPr>
        </p:nvSpPr>
        <p:spPr/>
        <p:txBody>
          <a:bodyPr/>
          <a:lstStyle/>
          <a:p>
            <a:fld id="{448024DB-6B9A-4615-862D-DCC9162E1D46}" type="datetime1">
              <a:rPr lang="en-IN" smtClean="0"/>
              <a:t>16-09-2026</a:t>
            </a:fld>
            <a:endParaRPr lang="en-IN"/>
          </a:p>
        </p:txBody>
      </p:sp>
      <p:sp>
        <p:nvSpPr>
          <p:cNvPr id="5" name="Footer Placeholder 4">
            <a:extLst>
              <a:ext uri="{FF2B5EF4-FFF2-40B4-BE49-F238E27FC236}">
                <a16:creationId xmlns:a16="http://schemas.microsoft.com/office/drawing/2014/main" id="{B5A049D0-589B-356A-C132-17EC1259BAA1}"/>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4ADB78BB-28AC-EA14-DC42-29260E08FF3D}"/>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946198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07D0-82DE-FA4A-EADB-1BEC487ABF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C8600A5-5C2C-00C3-916A-DF6214BB9F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B2F5CE-74CC-CF22-710E-082B7D801E88}"/>
              </a:ext>
            </a:extLst>
          </p:cNvPr>
          <p:cNvSpPr>
            <a:spLocks noGrp="1"/>
          </p:cNvSpPr>
          <p:nvPr>
            <p:ph type="dt" sz="half" idx="10"/>
          </p:nvPr>
        </p:nvSpPr>
        <p:spPr/>
        <p:txBody>
          <a:bodyPr/>
          <a:lstStyle/>
          <a:p>
            <a:fld id="{456FCEB4-FD16-4B07-9207-FB300F7B14E0}" type="datetime1">
              <a:rPr lang="en-IN" smtClean="0"/>
              <a:t>16-09-2026</a:t>
            </a:fld>
            <a:endParaRPr lang="en-IN"/>
          </a:p>
        </p:txBody>
      </p:sp>
      <p:sp>
        <p:nvSpPr>
          <p:cNvPr id="5" name="Footer Placeholder 4">
            <a:extLst>
              <a:ext uri="{FF2B5EF4-FFF2-40B4-BE49-F238E27FC236}">
                <a16:creationId xmlns:a16="http://schemas.microsoft.com/office/drawing/2014/main" id="{148AAAD5-EBF3-6851-32E4-D4FBA96C1FDB}"/>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05573601-9A03-2F15-2F0A-327D55FFD25C}"/>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001875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6E04-DE19-84EF-6EAD-5E68D54F7A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136FCB-7A4F-B695-D2E9-54090A944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5EC53CD-6C00-99BA-5BD0-0E766D390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DA650DD-602A-CC85-5499-22E0FF3010F3}"/>
              </a:ext>
            </a:extLst>
          </p:cNvPr>
          <p:cNvSpPr>
            <a:spLocks noGrp="1"/>
          </p:cNvSpPr>
          <p:nvPr>
            <p:ph type="dt" sz="half" idx="10"/>
          </p:nvPr>
        </p:nvSpPr>
        <p:spPr/>
        <p:txBody>
          <a:bodyPr/>
          <a:lstStyle/>
          <a:p>
            <a:fld id="{76E49330-105E-4C2D-A945-D7CB0B65AA0D}" type="datetime1">
              <a:rPr lang="en-IN" smtClean="0"/>
              <a:t>16-09-2026</a:t>
            </a:fld>
            <a:endParaRPr lang="en-IN"/>
          </a:p>
        </p:txBody>
      </p:sp>
      <p:sp>
        <p:nvSpPr>
          <p:cNvPr id="6" name="Footer Placeholder 5">
            <a:extLst>
              <a:ext uri="{FF2B5EF4-FFF2-40B4-BE49-F238E27FC236}">
                <a16:creationId xmlns:a16="http://schemas.microsoft.com/office/drawing/2014/main" id="{EB49BBE1-B537-7E2E-C2C4-08845C67D111}"/>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3FF4B757-EF27-F899-BAF4-B18811737387}"/>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93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AA2E0-9C62-08C2-AB3E-B35BC5C5A0B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DC222F9-75B3-17FE-C283-DD4BECA435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261EB91-21C0-BA49-75C9-60FD0E0EF9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E401927-DF5C-9C56-8562-7016E65722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F9C59F2-F071-5440-8C46-00C73B7D05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0961286-08BE-878F-F428-4DDDD6BC5679}"/>
              </a:ext>
            </a:extLst>
          </p:cNvPr>
          <p:cNvSpPr>
            <a:spLocks noGrp="1"/>
          </p:cNvSpPr>
          <p:nvPr>
            <p:ph type="dt" sz="half" idx="10"/>
          </p:nvPr>
        </p:nvSpPr>
        <p:spPr/>
        <p:txBody>
          <a:bodyPr/>
          <a:lstStyle/>
          <a:p>
            <a:fld id="{B7A2F794-44E1-4BEF-BC28-A1686AB91B35}" type="datetime1">
              <a:rPr lang="en-IN" smtClean="0"/>
              <a:t>16-09-2026</a:t>
            </a:fld>
            <a:endParaRPr lang="en-IN"/>
          </a:p>
        </p:txBody>
      </p:sp>
      <p:sp>
        <p:nvSpPr>
          <p:cNvPr id="8" name="Footer Placeholder 7">
            <a:extLst>
              <a:ext uri="{FF2B5EF4-FFF2-40B4-BE49-F238E27FC236}">
                <a16:creationId xmlns:a16="http://schemas.microsoft.com/office/drawing/2014/main" id="{811F68E0-6F17-B4CD-53C3-DFC164696B83}"/>
              </a:ext>
            </a:extLst>
          </p:cNvPr>
          <p:cNvSpPr>
            <a:spLocks noGrp="1"/>
          </p:cNvSpPr>
          <p:nvPr>
            <p:ph type="ftr" sz="quarter" idx="11"/>
          </p:nvPr>
        </p:nvSpPr>
        <p:spPr/>
        <p:txBody>
          <a:bodyPr/>
          <a:lstStyle/>
          <a:p>
            <a:r>
              <a:rPr lang="en-IN"/>
              <a:t>VVIT @ Dept. CSM</a:t>
            </a:r>
          </a:p>
        </p:txBody>
      </p:sp>
      <p:sp>
        <p:nvSpPr>
          <p:cNvPr id="9" name="Slide Number Placeholder 8">
            <a:extLst>
              <a:ext uri="{FF2B5EF4-FFF2-40B4-BE49-F238E27FC236}">
                <a16:creationId xmlns:a16="http://schemas.microsoft.com/office/drawing/2014/main" id="{41AC4CBA-01B5-C2C4-5335-B4EB35E5A07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1242339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03B32-7417-39CF-B839-3EEB29A1C4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6A2FE7-36B6-6E9C-5856-38F958DDB604}"/>
              </a:ext>
            </a:extLst>
          </p:cNvPr>
          <p:cNvSpPr>
            <a:spLocks noGrp="1"/>
          </p:cNvSpPr>
          <p:nvPr>
            <p:ph type="dt" sz="half" idx="10"/>
          </p:nvPr>
        </p:nvSpPr>
        <p:spPr/>
        <p:txBody>
          <a:bodyPr/>
          <a:lstStyle/>
          <a:p>
            <a:fld id="{D43309A1-C81B-427D-BCEA-27B741B28E1A}" type="datetime1">
              <a:rPr lang="en-IN" smtClean="0"/>
              <a:t>16-09-2026</a:t>
            </a:fld>
            <a:endParaRPr lang="en-IN"/>
          </a:p>
        </p:txBody>
      </p:sp>
      <p:sp>
        <p:nvSpPr>
          <p:cNvPr id="4" name="Footer Placeholder 3">
            <a:extLst>
              <a:ext uri="{FF2B5EF4-FFF2-40B4-BE49-F238E27FC236}">
                <a16:creationId xmlns:a16="http://schemas.microsoft.com/office/drawing/2014/main" id="{BDE31B30-D694-3C06-A324-C1D899945598}"/>
              </a:ext>
            </a:extLst>
          </p:cNvPr>
          <p:cNvSpPr>
            <a:spLocks noGrp="1"/>
          </p:cNvSpPr>
          <p:nvPr>
            <p:ph type="ftr" sz="quarter" idx="11"/>
          </p:nvPr>
        </p:nvSpPr>
        <p:spPr/>
        <p:txBody>
          <a:bodyPr/>
          <a:lstStyle/>
          <a:p>
            <a:r>
              <a:rPr lang="en-IN"/>
              <a:t>VVIT @ Dept. CSM</a:t>
            </a:r>
          </a:p>
        </p:txBody>
      </p:sp>
      <p:sp>
        <p:nvSpPr>
          <p:cNvPr id="5" name="Slide Number Placeholder 4">
            <a:extLst>
              <a:ext uri="{FF2B5EF4-FFF2-40B4-BE49-F238E27FC236}">
                <a16:creationId xmlns:a16="http://schemas.microsoft.com/office/drawing/2014/main" id="{291F9968-5814-8F57-EE5C-05F51ABB341A}"/>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125345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A244DA-A9F6-ED5C-2118-0A44894C883C}"/>
              </a:ext>
            </a:extLst>
          </p:cNvPr>
          <p:cNvSpPr>
            <a:spLocks noGrp="1"/>
          </p:cNvSpPr>
          <p:nvPr>
            <p:ph type="dt" sz="half" idx="10"/>
          </p:nvPr>
        </p:nvSpPr>
        <p:spPr/>
        <p:txBody>
          <a:bodyPr/>
          <a:lstStyle/>
          <a:p>
            <a:fld id="{3D6757F5-B3DD-41B2-8AD1-E2C7F01E8325}" type="datetime1">
              <a:rPr lang="en-IN" smtClean="0"/>
              <a:t>16-09-2026</a:t>
            </a:fld>
            <a:endParaRPr lang="en-IN"/>
          </a:p>
        </p:txBody>
      </p:sp>
      <p:sp>
        <p:nvSpPr>
          <p:cNvPr id="3" name="Footer Placeholder 2">
            <a:extLst>
              <a:ext uri="{FF2B5EF4-FFF2-40B4-BE49-F238E27FC236}">
                <a16:creationId xmlns:a16="http://schemas.microsoft.com/office/drawing/2014/main" id="{C7500EC8-C1AB-B577-EA4E-7D2E7D7F1C35}"/>
              </a:ext>
            </a:extLst>
          </p:cNvPr>
          <p:cNvSpPr>
            <a:spLocks noGrp="1"/>
          </p:cNvSpPr>
          <p:nvPr>
            <p:ph type="ftr" sz="quarter" idx="11"/>
          </p:nvPr>
        </p:nvSpPr>
        <p:spPr/>
        <p:txBody>
          <a:bodyPr/>
          <a:lstStyle/>
          <a:p>
            <a:r>
              <a:rPr lang="en-IN"/>
              <a:t>VVIT @ Dept. CSM</a:t>
            </a:r>
          </a:p>
        </p:txBody>
      </p:sp>
      <p:sp>
        <p:nvSpPr>
          <p:cNvPr id="4" name="Slide Number Placeholder 3">
            <a:extLst>
              <a:ext uri="{FF2B5EF4-FFF2-40B4-BE49-F238E27FC236}">
                <a16:creationId xmlns:a16="http://schemas.microsoft.com/office/drawing/2014/main" id="{0B839834-7C1C-DD95-00F7-1046CC02C973}"/>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29420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0408B-6746-EBBF-A1B8-482E0D54EF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A8A51-0194-E201-F62E-7028F4490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ADF6D2-0007-C8C6-5E66-A73252FA5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D9C60F-EE63-63C0-A3C9-201A1DEB63F4}"/>
              </a:ext>
            </a:extLst>
          </p:cNvPr>
          <p:cNvSpPr>
            <a:spLocks noGrp="1"/>
          </p:cNvSpPr>
          <p:nvPr>
            <p:ph type="dt" sz="half" idx="10"/>
          </p:nvPr>
        </p:nvSpPr>
        <p:spPr/>
        <p:txBody>
          <a:bodyPr/>
          <a:lstStyle/>
          <a:p>
            <a:fld id="{32632F12-6279-426C-8A42-8E638B69DA5E}" type="datetime1">
              <a:rPr lang="en-IN" smtClean="0"/>
              <a:t>16-09-2026</a:t>
            </a:fld>
            <a:endParaRPr lang="en-IN"/>
          </a:p>
        </p:txBody>
      </p:sp>
      <p:sp>
        <p:nvSpPr>
          <p:cNvPr id="6" name="Footer Placeholder 5">
            <a:extLst>
              <a:ext uri="{FF2B5EF4-FFF2-40B4-BE49-F238E27FC236}">
                <a16:creationId xmlns:a16="http://schemas.microsoft.com/office/drawing/2014/main" id="{71E88CB9-B2B4-DD3C-DF42-5FF8C80C0643}"/>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5B5FCC53-DC75-9AFB-03C5-B065AC50C1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4045669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14FA-37B6-93A5-E0E8-E926B5368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80E05A2-0EA7-C30C-EFFA-E0B149436A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B07175-07C8-0612-615D-57BF8C0741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36AA1-2BD7-CB7C-1AA4-34D02985A83E}"/>
              </a:ext>
            </a:extLst>
          </p:cNvPr>
          <p:cNvSpPr>
            <a:spLocks noGrp="1"/>
          </p:cNvSpPr>
          <p:nvPr>
            <p:ph type="dt" sz="half" idx="10"/>
          </p:nvPr>
        </p:nvSpPr>
        <p:spPr/>
        <p:txBody>
          <a:bodyPr/>
          <a:lstStyle/>
          <a:p>
            <a:fld id="{2ABB4110-22B7-47D9-9F58-54C5B302AF6D}" type="datetime1">
              <a:rPr lang="en-IN" smtClean="0"/>
              <a:t>16-09-2026</a:t>
            </a:fld>
            <a:endParaRPr lang="en-IN"/>
          </a:p>
        </p:txBody>
      </p:sp>
      <p:sp>
        <p:nvSpPr>
          <p:cNvPr id="6" name="Footer Placeholder 5">
            <a:extLst>
              <a:ext uri="{FF2B5EF4-FFF2-40B4-BE49-F238E27FC236}">
                <a16:creationId xmlns:a16="http://schemas.microsoft.com/office/drawing/2014/main" id="{37CC2950-CA0B-091E-E2BA-A60E75FD6138}"/>
              </a:ext>
            </a:extLst>
          </p:cNvPr>
          <p:cNvSpPr>
            <a:spLocks noGrp="1"/>
          </p:cNvSpPr>
          <p:nvPr>
            <p:ph type="ftr" sz="quarter" idx="11"/>
          </p:nvPr>
        </p:nvSpPr>
        <p:spPr/>
        <p:txBody>
          <a:bodyPr/>
          <a:lstStyle/>
          <a:p>
            <a:r>
              <a:rPr lang="en-IN"/>
              <a:t>VVIT @ Dept. CSM</a:t>
            </a:r>
          </a:p>
        </p:txBody>
      </p:sp>
      <p:sp>
        <p:nvSpPr>
          <p:cNvPr id="7" name="Slide Number Placeholder 6">
            <a:extLst>
              <a:ext uri="{FF2B5EF4-FFF2-40B4-BE49-F238E27FC236}">
                <a16:creationId xmlns:a16="http://schemas.microsoft.com/office/drawing/2014/main" id="{EB068AF4-0554-5223-D39A-DA1DC68D03CE}"/>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1766392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E9AE2-374C-4EF3-9532-31D0CE1D4F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2E305-5684-04F7-337B-C867ECD394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744A89-E93B-DDA0-25FF-C2242EE97D80}"/>
              </a:ext>
            </a:extLst>
          </p:cNvPr>
          <p:cNvSpPr>
            <a:spLocks noGrp="1"/>
          </p:cNvSpPr>
          <p:nvPr>
            <p:ph type="dt" sz="half" idx="10"/>
          </p:nvPr>
        </p:nvSpPr>
        <p:spPr/>
        <p:txBody>
          <a:bodyPr/>
          <a:lstStyle/>
          <a:p>
            <a:fld id="{80575400-B1DF-4AF6-AB50-CBCE8962669C}" type="datetime1">
              <a:rPr lang="en-IN" smtClean="0"/>
              <a:t>16-09-2026</a:t>
            </a:fld>
            <a:endParaRPr lang="en-IN"/>
          </a:p>
        </p:txBody>
      </p:sp>
      <p:sp>
        <p:nvSpPr>
          <p:cNvPr id="5" name="Footer Placeholder 4">
            <a:extLst>
              <a:ext uri="{FF2B5EF4-FFF2-40B4-BE49-F238E27FC236}">
                <a16:creationId xmlns:a16="http://schemas.microsoft.com/office/drawing/2014/main" id="{CBDDB2AC-EE20-661D-48EC-09C572C9F8E2}"/>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DA2A3F4-0238-70CC-420E-0F280FECAE9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36219565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A41AF6-9AAD-E282-9DDD-E66CF88ADC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BCF3A46-D4B7-3837-9A94-A663DE2A25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B33946-DFAA-48C8-71CA-3B2501710AE7}"/>
              </a:ext>
            </a:extLst>
          </p:cNvPr>
          <p:cNvSpPr>
            <a:spLocks noGrp="1"/>
          </p:cNvSpPr>
          <p:nvPr>
            <p:ph type="dt" sz="half" idx="10"/>
          </p:nvPr>
        </p:nvSpPr>
        <p:spPr/>
        <p:txBody>
          <a:bodyPr/>
          <a:lstStyle/>
          <a:p>
            <a:fld id="{E8A8D284-3CDB-49DE-A927-05878722C64F}" type="datetime1">
              <a:rPr lang="en-IN" smtClean="0"/>
              <a:t>16-09-2026</a:t>
            </a:fld>
            <a:endParaRPr lang="en-IN"/>
          </a:p>
        </p:txBody>
      </p:sp>
      <p:sp>
        <p:nvSpPr>
          <p:cNvPr id="5" name="Footer Placeholder 4">
            <a:extLst>
              <a:ext uri="{FF2B5EF4-FFF2-40B4-BE49-F238E27FC236}">
                <a16:creationId xmlns:a16="http://schemas.microsoft.com/office/drawing/2014/main" id="{437106D7-F25C-47BB-2611-089736A84EF9}"/>
              </a:ext>
            </a:extLst>
          </p:cNvPr>
          <p:cNvSpPr>
            <a:spLocks noGrp="1"/>
          </p:cNvSpPr>
          <p:nvPr>
            <p:ph type="ftr" sz="quarter" idx="11"/>
          </p:nvPr>
        </p:nvSpPr>
        <p:spPr/>
        <p:txBody>
          <a:bodyPr/>
          <a:lstStyle/>
          <a:p>
            <a:r>
              <a:rPr lang="en-IN"/>
              <a:t>VVIT @ Dept. CSM</a:t>
            </a:r>
          </a:p>
        </p:txBody>
      </p:sp>
      <p:sp>
        <p:nvSpPr>
          <p:cNvPr id="6" name="Slide Number Placeholder 5">
            <a:extLst>
              <a:ext uri="{FF2B5EF4-FFF2-40B4-BE49-F238E27FC236}">
                <a16:creationId xmlns:a16="http://schemas.microsoft.com/office/drawing/2014/main" id="{9FE811E5-1590-562C-784B-5F2A1B3D365F}"/>
              </a:ext>
            </a:extLst>
          </p:cNvPr>
          <p:cNvSpPr>
            <a:spLocks noGrp="1"/>
          </p:cNvSpPr>
          <p:nvPr>
            <p:ph type="sldNum" sz="quarter" idx="12"/>
          </p:nvPr>
        </p:nvSpPr>
        <p:spPr/>
        <p:txBody>
          <a:bodyPr/>
          <a:lstStyle/>
          <a:p>
            <a:fld id="{0F06A4E2-163B-4ABA-8562-AD05AC3F17C5}" type="slidenum">
              <a:rPr lang="en-IN" smtClean="0"/>
              <a:t>‹#›</a:t>
            </a:fld>
            <a:endParaRPr lang="en-IN"/>
          </a:p>
        </p:txBody>
      </p:sp>
    </p:spTree>
    <p:extLst>
      <p:ext uri="{BB962C8B-B14F-4D97-AF65-F5344CB8AC3E}">
        <p14:creationId xmlns:p14="http://schemas.microsoft.com/office/powerpoint/2010/main" val="2585821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EF6F91-B629-DA42-57EF-31DA782B6B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62AECB1-08ED-AF18-FDF8-8FE7F9F7D6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CC7C5D-06B8-2007-9878-FF4B74A5DC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2B7110-61B4-45BA-A110-4FCE83D5E720}" type="datetime1">
              <a:rPr lang="en-IN" smtClean="0"/>
              <a:t>16-09-2026</a:t>
            </a:fld>
            <a:endParaRPr lang="en-IN"/>
          </a:p>
        </p:txBody>
      </p:sp>
      <p:sp>
        <p:nvSpPr>
          <p:cNvPr id="5" name="Footer Placeholder 4">
            <a:extLst>
              <a:ext uri="{FF2B5EF4-FFF2-40B4-BE49-F238E27FC236}">
                <a16:creationId xmlns:a16="http://schemas.microsoft.com/office/drawing/2014/main" id="{0638ADC9-EB89-D372-7DE5-F164AC424E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VVIT @ Dept. CSM</a:t>
            </a:r>
          </a:p>
        </p:txBody>
      </p:sp>
      <p:sp>
        <p:nvSpPr>
          <p:cNvPr id="6" name="Slide Number Placeholder 5">
            <a:extLst>
              <a:ext uri="{FF2B5EF4-FFF2-40B4-BE49-F238E27FC236}">
                <a16:creationId xmlns:a16="http://schemas.microsoft.com/office/drawing/2014/main" id="{454E92DD-B99B-9C26-E756-4CB70ABD4D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06A4E2-163B-4ABA-8562-AD05AC3F17C5}" type="slidenum">
              <a:rPr lang="en-IN" smtClean="0"/>
              <a:t>‹#›</a:t>
            </a:fld>
            <a:endParaRPr lang="en-IN"/>
          </a:p>
        </p:txBody>
      </p:sp>
    </p:spTree>
    <p:extLst>
      <p:ext uri="{BB962C8B-B14F-4D97-AF65-F5344CB8AC3E}">
        <p14:creationId xmlns:p14="http://schemas.microsoft.com/office/powerpoint/2010/main" val="21667263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B1A8B0-3C3E-4DAC-946D-F1A2452D5558}" type="datetime1">
              <a:rPr lang="en-IN" smtClean="0">
                <a:solidFill>
                  <a:srgbClr val="E77E69"/>
                </a:solidFill>
              </a:rPr>
              <a:t>16-09-2026</a:t>
            </a:fld>
            <a:endParaRPr lang="en-IN" dirty="0">
              <a:solidFill>
                <a:srgbClr val="E77E69"/>
              </a:solidFill>
            </a:endParaRPr>
          </a:p>
        </p:txBody>
      </p:sp>
      <p:sp>
        <p:nvSpPr>
          <p:cNvPr id="4" name="Slide Number Placeholder 3"/>
          <p:cNvSpPr>
            <a:spLocks noGrp="1"/>
          </p:cNvSpPr>
          <p:nvPr>
            <p:ph type="sldNum" sz="quarter" idx="12"/>
          </p:nvPr>
        </p:nvSpPr>
        <p:spPr/>
        <p:txBody>
          <a:bodyPr/>
          <a:lstStyle/>
          <a:p>
            <a:fld id="{0F06A4E2-163B-4ABA-8562-AD05AC3F17C5}" type="slidenum">
              <a:rPr lang="en-IN" smtClean="0">
                <a:solidFill>
                  <a:srgbClr val="E77E69"/>
                </a:solidFill>
              </a:rPr>
              <a:t>1</a:t>
            </a:fld>
            <a:endParaRPr lang="en-IN" dirty="0">
              <a:solidFill>
                <a:srgbClr val="E77E69"/>
              </a:solidFill>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8880" y="223842"/>
            <a:ext cx="2174240" cy="1517438"/>
          </a:xfrm>
          <a:prstGeom prst="rect">
            <a:avLst/>
          </a:prstGeom>
        </p:spPr>
      </p:pic>
      <p:sp>
        <p:nvSpPr>
          <p:cNvPr id="6" name="TextBox 5"/>
          <p:cNvSpPr txBox="1"/>
          <p:nvPr/>
        </p:nvSpPr>
        <p:spPr>
          <a:xfrm>
            <a:off x="1184698" y="1714110"/>
            <a:ext cx="9822608" cy="954107"/>
          </a:xfrm>
          <a:prstGeom prst="rect">
            <a:avLst/>
          </a:prstGeom>
          <a:noFill/>
        </p:spPr>
        <p:txBody>
          <a:bodyPr wrap="square" rtlCol="0">
            <a:spAutoFit/>
          </a:bodyPr>
          <a:lstStyle/>
          <a:p>
            <a:pPr algn="ctr"/>
            <a:r>
              <a:rPr lang="en-IN" sz="2800" dirty="0">
                <a:latin typeface="Times New Roman" panose="02020603050405020304" pitchFamily="18" charset="0"/>
                <a:cs typeface="Times New Roman" panose="02020603050405020304" pitchFamily="18" charset="0"/>
              </a:rPr>
              <a:t>Secure IoT Intrusion Detection System</a:t>
            </a:r>
          </a:p>
          <a:p>
            <a:pPr algn="ctr"/>
            <a:r>
              <a:rPr lang="en-IN" sz="2800" dirty="0">
                <a:latin typeface="Times New Roman" panose="02020603050405020304" pitchFamily="18" charset="0"/>
                <a:cs typeface="Times New Roman" panose="02020603050405020304" pitchFamily="18" charset="0"/>
              </a:rPr>
              <a:t>Privacy-Preserving Federated Learning for IoT (FedPrIDS)</a:t>
            </a:r>
          </a:p>
        </p:txBody>
      </p:sp>
      <p:sp>
        <p:nvSpPr>
          <p:cNvPr id="7" name="TextBox 6"/>
          <p:cNvSpPr txBox="1"/>
          <p:nvPr/>
        </p:nvSpPr>
        <p:spPr>
          <a:xfrm>
            <a:off x="4864925" y="2751597"/>
            <a:ext cx="2531462" cy="369332"/>
          </a:xfrm>
          <a:prstGeom prst="rect">
            <a:avLst/>
          </a:prstGeom>
          <a:noFill/>
        </p:spPr>
        <p:txBody>
          <a:bodyPr wrap="none" rtlCol="0">
            <a:spAutoFit/>
          </a:bodyPr>
          <a:lstStyle/>
          <a:p>
            <a:r>
              <a:rPr lang="en-IN" dirty="0">
                <a:solidFill>
                  <a:srgbClr val="E77E69"/>
                </a:solidFill>
                <a:latin typeface="Times New Roman" panose="02020603050405020304" pitchFamily="18" charset="0"/>
                <a:cs typeface="Times New Roman" panose="02020603050405020304" pitchFamily="18" charset="0"/>
              </a:rPr>
              <a:t>Major Project Review - 1</a:t>
            </a:r>
          </a:p>
        </p:txBody>
      </p:sp>
      <p:sp>
        <p:nvSpPr>
          <p:cNvPr id="8" name="TextBox 7"/>
          <p:cNvSpPr txBox="1"/>
          <p:nvPr/>
        </p:nvSpPr>
        <p:spPr>
          <a:xfrm>
            <a:off x="5013010" y="3102396"/>
            <a:ext cx="2165978" cy="369332"/>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Batch ID: AIML-A4 </a:t>
            </a:r>
          </a:p>
        </p:txBody>
      </p:sp>
      <p:sp>
        <p:nvSpPr>
          <p:cNvPr id="9" name="TextBox 8"/>
          <p:cNvSpPr txBox="1"/>
          <p:nvPr/>
        </p:nvSpPr>
        <p:spPr>
          <a:xfrm>
            <a:off x="1747783" y="4841655"/>
            <a:ext cx="3236913" cy="646331"/>
          </a:xfrm>
          <a:prstGeom prst="rect">
            <a:avLst/>
          </a:prstGeom>
          <a:noFill/>
        </p:spPr>
        <p:txBody>
          <a:bodyPr wrap="none" rtlCol="0">
            <a:spAutoFit/>
          </a:bodyPr>
          <a:lstStyle/>
          <a:p>
            <a:pPr algn="ctr"/>
            <a:r>
              <a:rPr lang="en-IN" dirty="0">
                <a:latin typeface="Times New Roman" panose="02020603050405020304" pitchFamily="18" charset="0"/>
                <a:cs typeface="Times New Roman" panose="02020603050405020304" pitchFamily="18" charset="0"/>
              </a:rPr>
              <a:t>Mr./Mrs./</a:t>
            </a:r>
            <a:r>
              <a:rPr lang="en-IN" dirty="0" err="1">
                <a:latin typeface="Times New Roman" panose="02020603050405020304" pitchFamily="18" charset="0"/>
                <a:cs typeface="Times New Roman" panose="02020603050405020304" pitchFamily="18" charset="0"/>
              </a:rPr>
              <a:t>Dr.</a:t>
            </a:r>
            <a:r>
              <a:rPr lang="en-IN" dirty="0">
                <a:latin typeface="Times New Roman" panose="02020603050405020304" pitchFamily="18" charset="0"/>
                <a:cs typeface="Times New Roman" panose="02020603050405020304" pitchFamily="18" charset="0"/>
              </a:rPr>
              <a:t>  Gayatri</a:t>
            </a:r>
          </a:p>
          <a:p>
            <a:pPr algn="ctr"/>
            <a:r>
              <a:rPr lang="en-IN" dirty="0">
                <a:latin typeface="Times New Roman" panose="02020603050405020304" pitchFamily="18" charset="0"/>
                <a:cs typeface="Times New Roman" panose="02020603050405020304" pitchFamily="18" charset="0"/>
              </a:rPr>
              <a:t>Professor, Dept. of AIML, VVIT</a:t>
            </a:r>
          </a:p>
        </p:txBody>
      </p:sp>
      <p:sp>
        <p:nvSpPr>
          <p:cNvPr id="10" name="TextBox 9"/>
          <p:cNvSpPr txBox="1"/>
          <p:nvPr/>
        </p:nvSpPr>
        <p:spPr>
          <a:xfrm>
            <a:off x="7636329" y="4315108"/>
            <a:ext cx="2608535"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Batch Members</a:t>
            </a:r>
          </a:p>
        </p:txBody>
      </p:sp>
      <p:sp>
        <p:nvSpPr>
          <p:cNvPr id="12" name="TextBox 11"/>
          <p:cNvSpPr txBox="1"/>
          <p:nvPr/>
        </p:nvSpPr>
        <p:spPr>
          <a:xfrm>
            <a:off x="6223548" y="4936546"/>
            <a:ext cx="2825562" cy="646331"/>
          </a:xfrm>
          <a:prstGeom prst="rect">
            <a:avLst/>
          </a:prstGeom>
          <a:noFill/>
        </p:spPr>
        <p:txBody>
          <a:bodyPr wrap="square" rtlCol="0">
            <a:spAutoFit/>
          </a:bodyPr>
          <a:lstStyle/>
          <a:p>
            <a:r>
              <a:rPr lang="en-IN" dirty="0"/>
              <a:t>Guddanti Vijaya Lakshmi – </a:t>
            </a:r>
            <a:r>
              <a:rPr lang="en-IN" dirty="0" err="1"/>
              <a:t>23BQ1A6140</a:t>
            </a:r>
            <a:r>
              <a:rPr lang="en-IN" dirty="0"/>
              <a:t>.</a:t>
            </a:r>
          </a:p>
          <a:p>
            <a:r>
              <a:rPr lang="en-IN" dirty="0"/>
              <a:t>Geeta Malika Maddela – </a:t>
            </a:r>
            <a:r>
              <a:rPr lang="en-IN" dirty="0" err="1"/>
              <a:t>23BQ1A6139</a:t>
            </a:r>
            <a:r>
              <a:rPr lang="en-IN" dirty="0"/>
              <a:t>. </a:t>
            </a:r>
          </a:p>
        </p:txBody>
      </p:sp>
      <p:sp>
        <p:nvSpPr>
          <p:cNvPr id="13" name="TextBox 12"/>
          <p:cNvSpPr txBox="1"/>
          <p:nvPr/>
        </p:nvSpPr>
        <p:spPr>
          <a:xfrm>
            <a:off x="9208286" y="4936546"/>
            <a:ext cx="2678913" cy="646331"/>
          </a:xfrm>
          <a:prstGeom prst="rect">
            <a:avLst/>
          </a:prstGeom>
          <a:noFill/>
        </p:spPr>
        <p:txBody>
          <a:bodyPr wrap="square" rtlCol="0">
            <a:spAutoFit/>
          </a:bodyPr>
          <a:lstStyle/>
          <a:p>
            <a:r>
              <a:rPr lang="en-IN" dirty="0"/>
              <a:t>Bitra Sai Hema Latha – </a:t>
            </a:r>
            <a:r>
              <a:rPr lang="en-IN" dirty="0" err="1"/>
              <a:t>23BQ1A6112</a:t>
            </a:r>
            <a:r>
              <a:rPr lang="en-IN" dirty="0"/>
              <a:t>.</a:t>
            </a:r>
          </a:p>
          <a:p>
            <a:r>
              <a:rPr lang="en-IN" dirty="0"/>
              <a:t>Gajula Sasi Naag – </a:t>
            </a:r>
            <a:r>
              <a:rPr lang="en-IN" dirty="0" err="1"/>
              <a:t>24BQ5A6124</a:t>
            </a:r>
            <a:r>
              <a:rPr lang="en-IN" dirty="0"/>
              <a:t>. </a:t>
            </a:r>
          </a:p>
        </p:txBody>
      </p:sp>
      <p:sp>
        <p:nvSpPr>
          <p:cNvPr id="14" name="TextBox 13"/>
          <p:cNvSpPr txBox="1"/>
          <p:nvPr/>
        </p:nvSpPr>
        <p:spPr>
          <a:xfrm>
            <a:off x="2556497" y="4315108"/>
            <a:ext cx="1619482" cy="400110"/>
          </a:xfrm>
          <a:prstGeom prst="rect">
            <a:avLst/>
          </a:prstGeom>
          <a:noFill/>
        </p:spPr>
        <p:txBody>
          <a:bodyPr wrap="none" rtlCol="0">
            <a:spAutoFit/>
          </a:bodyPr>
          <a:lstStyle/>
          <a:p>
            <a:pPr algn="ctr"/>
            <a:r>
              <a:rPr lang="en-IN" sz="2000" i="1" dirty="0">
                <a:solidFill>
                  <a:srgbClr val="E77E69"/>
                </a:solidFill>
                <a:latin typeface="Times New Roman" panose="02020603050405020304" pitchFamily="18" charset="0"/>
                <a:cs typeface="Times New Roman" panose="02020603050405020304" pitchFamily="18" charset="0"/>
              </a:rPr>
              <a:t>Project Guide</a:t>
            </a:r>
          </a:p>
        </p:txBody>
      </p:sp>
      <p:sp>
        <p:nvSpPr>
          <p:cNvPr id="15"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rgbClr val="E77E32"/>
                </a:solidFill>
              </a:rPr>
              <a:t>Dept. AIML @ VVIT</a:t>
            </a:r>
          </a:p>
        </p:txBody>
      </p:sp>
    </p:spTree>
    <p:extLst>
      <p:ext uri="{BB962C8B-B14F-4D97-AF65-F5344CB8AC3E}">
        <p14:creationId xmlns:p14="http://schemas.microsoft.com/office/powerpoint/2010/main" val="501989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2"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11920141"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90" name="ContentBox2"/>
          <p:cNvSpPr txBox="1"/>
          <p:nvPr/>
        </p:nvSpPr>
        <p:spPr>
          <a:xfrm>
            <a:off x="250000" y="1500000"/>
            <a:ext cx="11692000" cy="4780000"/>
          </a:xfrm>
          <a:prstGeom prst="rect">
            <a:avLst/>
          </a:prstGeom>
          <a:noFill/>
        </p:spPr>
        <p:txBody>
          <a:bodyPr wrap="square" lIns="0" tIns="0" rIns="0" bIns="0">
            <a:normAutofit/>
          </a:bodyPr>
          <a:lstStyle/>
          <a:p>
            <a:pPr marL="285750" indent="-285750">
              <a:buFont typeface="Arial"/>
              <a:buChar char="•"/>
            </a:pPr>
            <a:r>
              <a:rPr lang="en-US" sz="1500" dirty="0">
                <a:latin typeface="Times New Roman" panose="02020603050405020304" pitchFamily="18" charset="0"/>
                <a:cs typeface="Times New Roman" panose="02020603050405020304" pitchFamily="18" charset="0"/>
              </a:rPr>
              <a:t>To develop an enhanced privacy-preserving Federated Learning based IoT Intrusion Detection System that not only detects malicious network traffic but also identifies the specific attack class and provides a simple explanation of the detected attack, while keeping organizations’ raw IoT data.</a:t>
            </a:r>
          </a:p>
          <a:p>
            <a:endParaRPr lang="en-US" sz="1500" dirty="0">
              <a:latin typeface="Times New Roman" panose="02020603050405020304" pitchFamily="18" charset="0"/>
              <a:cs typeface="Times New Roman" panose="02020603050405020304" pitchFamily="18" charset="0"/>
            </a:endParaRPr>
          </a:p>
          <a:p>
            <a:pPr marL="285750" indent="-285750">
              <a:buFont typeface="Arial"/>
              <a:buChar char="•"/>
            </a:pPr>
            <a:r>
              <a:rPr lang="en-US" sz="1500" dirty="0">
                <a:latin typeface="Times New Roman" panose="02020603050405020304" pitchFamily="18" charset="0"/>
                <a:cs typeface="Times New Roman" panose="02020603050405020304" pitchFamily="18" charset="0"/>
              </a:rPr>
              <a:t>Multi-Class Attack Prediction: Instead of giving only “Benign” or “Malicious,” the proposed model will predict the specific attack category supported by the selected </a:t>
            </a:r>
            <a:r>
              <a:rPr lang="en-US" sz="1500" dirty="0" err="1">
                <a:latin typeface="Times New Roman" panose="02020603050405020304" pitchFamily="18" charset="0"/>
                <a:cs typeface="Times New Roman" panose="02020603050405020304" pitchFamily="18" charset="0"/>
              </a:rPr>
              <a:t>dataset.Attack</a:t>
            </a:r>
            <a:r>
              <a:rPr lang="en-US" sz="1500" dirty="0">
                <a:latin typeface="Times New Roman" panose="02020603050405020304" pitchFamily="18" charset="0"/>
                <a:cs typeface="Times New Roman" panose="02020603050405020304" pitchFamily="18" charset="0"/>
              </a:rPr>
              <a:t> Explanation: After predicting an attack, the system will provide a simple explanation describing what that predicted attack category represents and why it is a security concern. The exact attack classes should be chosen from the labels available in the dataset used for your implementation; your current PPT does not list those individual classes.</a:t>
            </a:r>
          </a:p>
          <a:p>
            <a:pPr marL="285750" indent="-285750">
              <a:buFont typeface="Arial"/>
              <a:buChar char="•"/>
            </a:pPr>
            <a:endParaRPr lang="en-US" sz="1500" dirty="0">
              <a:latin typeface="Times New Roman" panose="02020603050405020304" pitchFamily="18" charset="0"/>
              <a:cs typeface="Times New Roman" panose="02020603050405020304" pitchFamily="18" charset="0"/>
            </a:endParaRPr>
          </a:p>
          <a:p>
            <a:pPr marL="285750" indent="-285750">
              <a:buFont typeface="Arial"/>
              <a:buChar char="•"/>
            </a:pPr>
            <a:r>
              <a:rPr lang="en-US" sz="1500" dirty="0">
                <a:latin typeface="Times New Roman" panose="02020603050405020304" pitchFamily="18" charset="0"/>
                <a:cs typeface="Times New Roman" panose="02020603050405020304" pitchFamily="18" charset="0"/>
              </a:rPr>
              <a:t>Privacy-Preserving Detection: Organizations will continue to train locally using Federated Learning, so sensitive raw network traffic does not need to be centrally shared. </a:t>
            </a:r>
          </a:p>
          <a:p>
            <a:endParaRPr lang="en-US" sz="1500" dirty="0">
              <a:latin typeface="Times New Roman" panose="02020603050405020304" pitchFamily="18" charset="0"/>
              <a:cs typeface="Times New Roman" panose="02020603050405020304" pitchFamily="18" charset="0"/>
            </a:endParaRPr>
          </a:p>
          <a:p>
            <a:endParaRPr lang="en-US" sz="1500" dirty="0">
              <a:latin typeface="Times New Roman" panose="02020603050405020304" pitchFamily="18" charset="0"/>
              <a:cs typeface="Times New Roman" panose="02020603050405020304" pitchFamily="18" charset="0"/>
            </a:endParaRPr>
          </a:p>
          <a:p>
            <a:endParaRPr lang="en-IN"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6449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FedPrIDS: Privacy-Preserving Federated Learning for Collaborative NIDS in IoT</a:t>
            </a:r>
            <a:br>
              <a:rPr lang="en-US" sz="1400" dirty="0"/>
            </a:br>
            <a:r>
              <a:rPr lang="en-US" sz="1400" i="1" dirty="0"/>
              <a:t>Mankotia, Conte de Leon &amp; Rimal, 2026 | Journal of Cybersecurity and Privacy (Base Paper)</a:t>
            </a:r>
            <a:endParaRPr lang="en-IN" sz="1400" dirty="0"/>
          </a:p>
        </p:txBody>
      </p:sp>
      <p:sp>
        <p:nvSpPr>
          <p:cNvPr id="90" name="ContentBox3"/>
          <p:cNvSpPr txBox="1"/>
          <p:nvPr/>
        </p:nvSpPr>
        <p:spPr>
          <a:xfrm>
            <a:off x="210671" y="1683506"/>
            <a:ext cx="11692000" cy="4530000"/>
          </a:xfrm>
          <a:prstGeom prst="rect">
            <a:avLst/>
          </a:prstGeom>
          <a:noFill/>
        </p:spPr>
        <p:txBody>
          <a:bodyPr wrap="square" lIns="0" tIns="0" rIns="0" bIns="0">
            <a:normAutofit/>
          </a:bodyPr>
          <a:lstStyle/>
          <a:p>
            <a:pPr marL="285750" indent="-285750">
              <a:buFont typeface="Arial"/>
              <a:buChar char="•"/>
            </a:pPr>
            <a:r>
              <a:rPr lang="en-US" sz="1400" dirty="0">
                <a:latin typeface="Times New Roman" panose="02020603050405020304" pitchFamily="18" charset="0"/>
                <a:cs typeface="Times New Roman" panose="02020603050405020304" pitchFamily="18" charset="0"/>
              </a:rPr>
              <a:t>“The main problem is that IoT networks face different types of cyberattacks, and organizations need to improve intrusion detection by learning from each other. But directly sharing network traffic data between organizations creates privacy and security concerns. Centralized learning also requires collecting data at one place. Therefore, this project uses Federated Learning, where organizations train the intrusion detection model locally and share only model updates instead of raw data.”</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A61C228-A275-625E-FF7B-155E57F95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8305" y="2401004"/>
            <a:ext cx="5127171" cy="3635630"/>
          </a:xfrm>
          <a:prstGeom prst="rect">
            <a:avLst/>
          </a:prstGeom>
        </p:spPr>
      </p:pic>
    </p:spTree>
    <p:extLst>
      <p:ext uri="{BB962C8B-B14F-4D97-AF65-F5344CB8AC3E}">
        <p14:creationId xmlns:p14="http://schemas.microsoft.com/office/powerpoint/2010/main" val="282606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FedPrIDS: Privacy-Preserving Federated Learning for Collaborative NIDS in IoT</a:t>
            </a:r>
            <a:br>
              <a:rPr lang="en-US" sz="1400" dirty="0"/>
            </a:br>
            <a:r>
              <a:rPr lang="en-US" sz="1400" i="1" dirty="0"/>
              <a:t>Mankotia, Conte de Leon &amp; Rimal, 2026 | Journal of Cybersecurity and Privacy (Base Paper)</a:t>
            </a:r>
            <a:endParaRPr lang="en-IN" sz="1400" dirty="0"/>
          </a:p>
        </p:txBody>
      </p:sp>
      <p:sp>
        <p:nvSpPr>
          <p:cNvPr id="90" name="ContentBox4"/>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US" sz="1400" dirty="0">
                <a:latin typeface="Times New Roman" panose="02020603050405020304" pitchFamily="18" charset="0"/>
                <a:cs typeface="Times New Roman" panose="02020603050405020304" pitchFamily="18" charset="0"/>
              </a:rPr>
              <a:t>Datasets Used: CIC-IDS-2017, UNSW-NB15, and Bot-IoT.</a:t>
            </a:r>
          </a:p>
          <a:p>
            <a:pPr marL="285750" indent="-285750">
              <a:buFont typeface="Arial"/>
              <a:buChar char="•"/>
            </a:pPr>
            <a:r>
              <a:rPr lang="en-US" sz="1400" dirty="0">
                <a:latin typeface="Times New Roman" panose="02020603050405020304" pitchFamily="18" charset="0"/>
                <a:cs typeface="Times New Roman" panose="02020603050405020304" pitchFamily="18" charset="0"/>
              </a:rPr>
              <a:t>Organizations: Data is distributed among 5 simulated organizations – Financial, Technology, Healthcare, Government, and University.</a:t>
            </a:r>
          </a:p>
          <a:p>
            <a:pPr marL="285750" indent="-285750">
              <a:buFont typeface="Arial"/>
              <a:buChar char="•"/>
            </a:pPr>
            <a:r>
              <a:rPr lang="en-US" sz="1400" dirty="0">
                <a:latin typeface="Times New Roman" panose="02020603050405020304" pitchFamily="18" charset="0"/>
                <a:cs typeface="Times New Roman" panose="02020603050405020304" pitchFamily="18" charset="0"/>
              </a:rPr>
              <a:t>Data Split: 80% for training and 20% for testing.</a:t>
            </a:r>
          </a:p>
          <a:p>
            <a:pPr marL="285750" indent="-285750">
              <a:buFont typeface="Arial"/>
              <a:buChar char="•"/>
            </a:pPr>
            <a:r>
              <a:rPr lang="en-US" sz="1400" dirty="0">
                <a:latin typeface="Times New Roman" panose="02020603050405020304" pitchFamily="18" charset="0"/>
                <a:cs typeface="Times New Roman" panose="02020603050405020304" pitchFamily="18" charset="0"/>
              </a:rPr>
              <a:t>Feature Selection: Unnecessary features are removed to reduce processing time.</a:t>
            </a:r>
          </a:p>
          <a:p>
            <a:pPr marL="285750" indent="-285750">
              <a:buFont typeface="Arial"/>
              <a:buChar char="•"/>
            </a:pPr>
            <a:r>
              <a:rPr lang="en-US" sz="1400" dirty="0">
                <a:latin typeface="Times New Roman" panose="02020603050405020304" pitchFamily="18" charset="0"/>
                <a:cs typeface="Times New Roman" panose="02020603050405020304" pitchFamily="18" charset="0"/>
              </a:rPr>
              <a:t>Model Training: Uses </a:t>
            </a:r>
            <a:r>
              <a:rPr lang="en-US" sz="1400" dirty="0" err="1">
                <a:latin typeface="Times New Roman" panose="02020603050405020304" pitchFamily="18" charset="0"/>
                <a:cs typeface="Times New Roman" panose="02020603050405020304" pitchFamily="18" charset="0"/>
              </a:rPr>
              <a:t>PyTorch</a:t>
            </a:r>
            <a:r>
              <a:rPr lang="en-US" sz="1400" dirty="0">
                <a:latin typeface="Times New Roman" panose="02020603050405020304" pitchFamily="18" charset="0"/>
                <a:cs typeface="Times New Roman" panose="02020603050405020304" pitchFamily="18" charset="0"/>
              </a:rPr>
              <a:t>, Adam optimizer, batch size 128, and 20 federated rounds.</a:t>
            </a:r>
          </a:p>
          <a:p>
            <a:pPr marL="285750" indent="-285750">
              <a:buFont typeface="Arial"/>
              <a:buChar char="•"/>
            </a:pPr>
            <a:r>
              <a:rPr lang="en-US" sz="1400" dirty="0">
                <a:latin typeface="Times New Roman" panose="02020603050405020304" pitchFamily="18" charset="0"/>
                <a:cs typeface="Times New Roman" panose="02020603050405020304" pitchFamily="18" charset="0"/>
              </a:rPr>
              <a:t>Privacy: Differential Privacy is applied so organizations can train without sharing their raw network data.</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568D0DFA-3A58-8E63-99B7-18CBF20A41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81934" y="3079102"/>
            <a:ext cx="4646645" cy="3208982"/>
          </a:xfrm>
          <a:prstGeom prst="rect">
            <a:avLst/>
          </a:prstGeom>
        </p:spPr>
      </p:pic>
    </p:spTree>
    <p:extLst>
      <p:ext uri="{BB962C8B-B14F-4D97-AF65-F5344CB8AC3E}">
        <p14:creationId xmlns:p14="http://schemas.microsoft.com/office/powerpoint/2010/main" val="38761277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FedPrIDS: Privacy-Preserving Federated Learning for Collaborative NIDS in IoT</a:t>
            </a:r>
            <a:br>
              <a:rPr lang="en-US" sz="1400" dirty="0"/>
            </a:br>
            <a:r>
              <a:rPr lang="en-US" sz="1400" i="1" dirty="0"/>
              <a:t>Mankotia, Conte de Leon &amp; Rimal, 2026 | Journal of Cybersecurity and Privacy (Base Paper)</a:t>
            </a:r>
            <a:endParaRPr lang="en-IN" sz="1400" dirty="0"/>
          </a:p>
        </p:txBody>
      </p:sp>
      <p:sp>
        <p:nvSpPr>
          <p:cNvPr id="90" name="ContentBox5"/>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IN" sz="1350" dirty="0">
                <a:latin typeface="Times New Roman" panose="02020603050405020304" pitchFamily="18" charset="0"/>
                <a:cs typeface="Times New Roman" panose="02020603050405020304" pitchFamily="18" charset="0"/>
              </a:rPr>
              <a:t>Federated detection accuracy: 90.3% on CIC-IDS-2017, 89.7% on UNSW-NB15, 92.1% on Bot-IoT.</a:t>
            </a:r>
          </a:p>
          <a:p>
            <a:pPr marL="285750" indent="-285750">
              <a:buFont typeface="Arial"/>
              <a:buChar char="•"/>
            </a:pPr>
            <a:r>
              <a:rPr lang="en-IN" sz="1350" dirty="0">
                <a:latin typeface="Times New Roman" panose="02020603050405020304" pitchFamily="18" charset="0"/>
                <a:cs typeface="Times New Roman" panose="02020603050405020304" pitchFamily="18" charset="0"/>
              </a:rPr>
              <a:t>Collaboration gain over isolated (non-federated) training: +8.5% to +14.4% (average +11.3%).</a:t>
            </a:r>
          </a:p>
          <a:p>
            <a:pPr marL="285750" indent="-285750">
              <a:buFont typeface="Arial"/>
              <a:buChar char="•"/>
            </a:pPr>
            <a:r>
              <a:rPr lang="en-IN" sz="1350" dirty="0">
                <a:latin typeface="Times New Roman" panose="02020603050405020304" pitchFamily="18" charset="0"/>
                <a:cs typeface="Times New Roman" panose="02020603050405020304" pitchFamily="18" charset="0"/>
              </a:rPr>
              <a:t>Hybrid feature selection cut preprocessing time by 37–43% with only 0.12–0.15% accuracy loss.</a:t>
            </a:r>
          </a:p>
          <a:p>
            <a:pPr marL="285750" indent="-285750">
              <a:buFont typeface="Arial"/>
              <a:buChar char="•"/>
            </a:pPr>
            <a:r>
              <a:rPr lang="en-IN" sz="1350" dirty="0">
                <a:latin typeface="Times New Roman" panose="02020603050405020304" pitchFamily="18" charset="0"/>
                <a:cs typeface="Times New Roman" panose="02020603050405020304" pitchFamily="18" charset="0"/>
              </a:rPr>
              <a:t>Even at the strictest privacy setting (ε = 0.5), accuracy dropped by less than 2.5% — privacy cost stayed low.</a:t>
            </a:r>
          </a:p>
          <a:p>
            <a:pPr marL="285750" indent="-285750">
              <a:buFont typeface="Arial"/>
              <a:buChar char="•"/>
            </a:pPr>
            <a:r>
              <a:rPr lang="en-IN" sz="1350" dirty="0">
                <a:latin typeface="Times New Roman" panose="02020603050405020304" pitchFamily="18" charset="0"/>
                <a:cs typeface="Times New Roman" panose="02020603050405020304" pitchFamily="18" charset="0"/>
              </a:rPr>
              <a:t>Federated training converged within 20 rounds and cut inter-organizational communication overhead by ~50%.</a:t>
            </a:r>
          </a:p>
        </p:txBody>
      </p:sp>
      <p:pic>
        <p:nvPicPr>
          <p:cNvPr id="8" name="Picture 7">
            <a:extLst>
              <a:ext uri="{FF2B5EF4-FFF2-40B4-BE49-F238E27FC236}">
                <a16:creationId xmlns:a16="http://schemas.microsoft.com/office/drawing/2014/main" id="{CE8411F3-2F13-F002-BB14-BC39ECF58F80}"/>
              </a:ext>
            </a:extLst>
          </p:cNvPr>
          <p:cNvPicPr>
            <a:picLocks noChangeAspect="1"/>
          </p:cNvPicPr>
          <p:nvPr/>
        </p:nvPicPr>
        <p:blipFill>
          <a:blip r:embed="rId4"/>
          <a:stretch>
            <a:fillRect/>
          </a:stretch>
        </p:blipFill>
        <p:spPr>
          <a:xfrm>
            <a:off x="2640562" y="3011899"/>
            <a:ext cx="3946849" cy="3350008"/>
          </a:xfrm>
          <a:prstGeom prst="rect">
            <a:avLst/>
          </a:prstGeom>
        </p:spPr>
      </p:pic>
    </p:spTree>
    <p:extLst>
      <p:ext uri="{BB962C8B-B14F-4D97-AF65-F5344CB8AC3E}">
        <p14:creationId xmlns:p14="http://schemas.microsoft.com/office/powerpoint/2010/main" val="22064797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35832"/>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FedPrIDS: Privacy-Preserving Federated Learning for Collaborative NIDS in IoT</a:t>
            </a:r>
            <a:br>
              <a:rPr lang="en-US" sz="1400" dirty="0"/>
            </a:br>
            <a:r>
              <a:rPr lang="en-US" sz="1400" i="1" dirty="0"/>
              <a:t>Mankotia, Conte de Leon &amp; Rimal, 2026 | Journal of Cybersecurity and Privacy (Base Paper)</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91" name="StrengthsBox6"/>
          <p:cNvSpPr txBox="1"/>
          <p:nvPr/>
        </p:nvSpPr>
        <p:spPr>
          <a:xfrm>
            <a:off x="393386"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US" sz="1200" dirty="0">
                <a:latin typeface="Times New Roman" panose="02020603050405020304" pitchFamily="18" charset="0"/>
                <a:cs typeface="Times New Roman" panose="02020603050405020304" pitchFamily="18" charset="0"/>
              </a:rPr>
              <a:t>1. Strong Data Privacy: Uses Differential Privacy (DP) to protect sensitive network information while organizations collaboratively train the model.</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2. Efficient Feature Selection: Uses variance filtering, correlation analysis, and mutual-information ranking to remove unnecessary features, reducing preprocessing time.</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3. Multiple Dataset Validation: Tested on CIC-IDS-2017, UNSW-NB15, and Bot-IoT, which helps evaluate the approach across different intrusion datasets.</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4. Organization-Specific Privacy: Different organizations can have different privacy budgets and data quality, making the federated setup more flexible.</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5. Safer Aggregation: Uses MAD-based outlier detection and rollback safeguards to identify abnormal model updates during aggregation.</a:t>
            </a:r>
            <a:endParaRPr lang="en-IN" sz="1200" dirty="0">
              <a:latin typeface="Times New Roman" panose="02020603050405020304" pitchFamily="18" charset="0"/>
              <a:cs typeface="Times New Roman" panose="02020603050405020304" pitchFamily="18" charset="0"/>
            </a:endParaRPr>
          </a:p>
        </p:txBody>
      </p:sp>
      <p:sp>
        <p:nvSpPr>
          <p:cNvPr id="92" name="LimitationsBox6"/>
          <p:cNvSpPr txBox="1"/>
          <p:nvPr/>
        </p:nvSpPr>
        <p:spPr>
          <a:xfrm>
            <a:off x="6259202"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US" sz="1200" dirty="0">
                <a:latin typeface="Times New Roman" panose="02020603050405020304" pitchFamily="18" charset="0"/>
                <a:cs typeface="Times New Roman" panose="02020603050405020304" pitchFamily="18" charset="0"/>
              </a:rPr>
              <a:t>1. Requires Labeled Data: The model depends on correctly labeled benign and malicious traffic for supervised training.</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2. Trusted Central Server: It relies on a trusted central aggregator to combine model updates. If the central server cannot be trusted, this becomes a limitation</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.3. Simulated Organizations: Experiments use fictitious/simulated organizations, rather than a real multi-organization deployment.</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4. No Real-Time Testing: The system was not evaluated for real-time or production-scale deployment.</a:t>
            </a:r>
          </a:p>
          <a:p>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5. Lower Recall: Although overall accuracy is high, the PPT reports relatively low recall of around 57–62%, meaning some actual attacks may not be detected.</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15890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01 – FedPrIDS: Privacy-Preserving Federated Learning for Collaborative NIDS in IoT</a:t>
            </a:r>
            <a:br>
              <a:rPr lang="en-US" sz="1400" dirty="0"/>
            </a:br>
            <a:r>
              <a:rPr lang="en-US" sz="1400" i="1" dirty="0"/>
              <a:t>Mankotia, Conte de Leon &amp; Rimal, 2026 | Journal of Cybersecurity and Privacy (Base Paper)</a:t>
            </a:r>
            <a:endParaRPr lang="en-IN" sz="1400" dirty="0"/>
          </a:p>
        </p:txBody>
      </p:sp>
      <p:sp>
        <p:nvSpPr>
          <p:cNvPr id="90" name="ContentBox7"/>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US" sz="1400" dirty="0">
                <a:latin typeface="Times New Roman" panose="02020603050405020304" pitchFamily="18" charset="0"/>
                <a:cs typeface="Times New Roman" panose="02020603050405020304" pitchFamily="18" charset="0"/>
              </a:rPr>
              <a:t>Base Paper: </a:t>
            </a:r>
            <a:r>
              <a:rPr lang="en-US" sz="1400" dirty="0" err="1">
                <a:latin typeface="Times New Roman" panose="02020603050405020304" pitchFamily="18" charset="0"/>
                <a:cs typeface="Times New Roman" panose="02020603050405020304" pitchFamily="18" charset="0"/>
              </a:rPr>
              <a:t>FedPrIDS</a:t>
            </a:r>
            <a:r>
              <a:rPr lang="en-US" sz="1400" dirty="0">
                <a:latin typeface="Times New Roman" panose="02020603050405020304" pitchFamily="18" charset="0"/>
                <a:cs typeface="Times New Roman" panose="02020603050405020304" pitchFamily="18" charset="0"/>
              </a:rPr>
              <a:t> is the base/reference paper for our Secure IoT Intrusion Detection System.</a:t>
            </a:r>
          </a:p>
          <a:p>
            <a:endParaRPr lang="en-US"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Federated Learning: We use its idea of training across multiple organizations without sharing raw network</a:t>
            </a:r>
          </a:p>
          <a:p>
            <a:endParaRPr lang="en-US"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data.Privacy</a:t>
            </a:r>
            <a:r>
              <a:rPr lang="en-US" sz="1400" dirty="0">
                <a:latin typeface="Times New Roman" panose="02020603050405020304" pitchFamily="18" charset="0"/>
                <a:cs typeface="Times New Roman" panose="02020603050405020304" pitchFamily="18" charset="0"/>
              </a:rPr>
              <a:t> Protection: Its Differential Privacy approach provides the basis for protecting sensitive IoT/network information.</a:t>
            </a:r>
          </a:p>
          <a:p>
            <a:endParaRPr lang="en-US"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Feature Selection: Its hybrid feature-selection technique helps select important network features and reduce processing time.</a:t>
            </a:r>
          </a:p>
          <a:p>
            <a:endParaRPr lang="en-US"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Secure Aggregation: Its federated aggregation approach provides a foundation for combining local model </a:t>
            </a:r>
            <a:r>
              <a:rPr lang="en-US" sz="1400" dirty="0" err="1">
                <a:latin typeface="Times New Roman" panose="02020603050405020304" pitchFamily="18" charset="0"/>
                <a:cs typeface="Times New Roman" panose="02020603050405020304" pitchFamily="18" charset="0"/>
              </a:rPr>
              <a:t>updates.Extension</a:t>
            </a:r>
            <a:r>
              <a:rPr lang="en-US" sz="1400" dirty="0">
                <a:latin typeface="Times New Roman" panose="02020603050405020304" pitchFamily="18" charset="0"/>
                <a:cs typeface="Times New Roman" panose="02020603050405020304" pitchFamily="18" charset="0"/>
              </a:rPr>
              <a:t> Opportunity: Our research can build on the paper by addressing limitations such as dependence on labeled data and a trusted central aggregator. </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59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Fed-ANIDS: Federated Learning for Anomaly-Based NIDS</a:t>
            </a:r>
            <a:br>
              <a:rPr lang="en-US" sz="1400" dirty="0"/>
            </a:br>
            <a:r>
              <a:rPr lang="en-US" sz="1400" i="1" dirty="0"/>
              <a:t>Janati Idrissi et al., 2023 | Expert Systems with Applications</a:t>
            </a:r>
            <a:endParaRPr lang="en-IN" sz="1400" dirty="0"/>
          </a:p>
        </p:txBody>
      </p:sp>
      <p:sp>
        <p:nvSpPr>
          <p:cNvPr id="90" name="ContentBox8"/>
          <p:cNvSpPr txBox="1"/>
          <p:nvPr/>
        </p:nvSpPr>
        <p:spPr>
          <a:xfrm>
            <a:off x="335902" y="1849721"/>
            <a:ext cx="9834465" cy="4710133"/>
          </a:xfrm>
          <a:prstGeom prst="rect">
            <a:avLst/>
          </a:prstGeom>
          <a:noFill/>
        </p:spPr>
        <p:txBody>
          <a:bodyPr wrap="square" lIns="0" tIns="0" rIns="0" bIns="0">
            <a:normAutofit/>
          </a:bodyPr>
          <a:lstStyle/>
          <a:p>
            <a:r>
              <a:rPr lang="en-US" sz="1400" dirty="0">
                <a:latin typeface="Times New Roman" panose="02020603050405020304" pitchFamily="18" charset="0"/>
                <a:cs typeface="Times New Roman" panose="02020603050405020304" pitchFamily="18" charset="0"/>
              </a:rPr>
              <a:t>1. Problem Statement</a:t>
            </a:r>
          </a:p>
          <a:p>
            <a:r>
              <a:rPr lang="en-US" sz="1400" dirty="0">
                <a:latin typeface="Times New Roman" panose="02020603050405020304" pitchFamily="18" charset="0"/>
                <a:cs typeface="Times New Roman" panose="02020603050405020304" pitchFamily="18" charset="0"/>
              </a:rPr>
              <a:t>Nowadays, many computers and devices are connected through networks. Because of this, cyber attacks and network intrusions are increasing.</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Traditional Intrusion Detection Systems (IDS) have some problems:</a:t>
            </a:r>
          </a:p>
          <a:p>
            <a:r>
              <a:rPr lang="en-US" sz="1400" dirty="0">
                <a:latin typeface="Times New Roman" panose="02020603050405020304" pitchFamily="18" charset="0"/>
                <a:cs typeface="Times New Roman" panose="02020603050405020304" pitchFamily="18" charset="0"/>
              </a:rPr>
              <a:t>They mainly depend on previously known attack patterns.</a:t>
            </a:r>
          </a:p>
          <a:p>
            <a:r>
              <a:rPr lang="en-US" sz="1400" dirty="0">
                <a:latin typeface="Times New Roman" panose="02020603050405020304" pitchFamily="18" charset="0"/>
                <a:cs typeface="Times New Roman" panose="02020603050405020304" pitchFamily="18" charset="0"/>
              </a:rPr>
              <a:t>They may fail to detect new or unknown attacks.</a:t>
            </a:r>
          </a:p>
          <a:p>
            <a:r>
              <a:rPr lang="en-US" sz="1400" dirty="0">
                <a:latin typeface="Times New Roman" panose="02020603050405020304" pitchFamily="18" charset="0"/>
                <a:cs typeface="Times New Roman" panose="02020603050405020304" pitchFamily="18" charset="0"/>
              </a:rPr>
              <a:t>Organizations usually have network data at different locations.</a:t>
            </a:r>
          </a:p>
          <a:p>
            <a:r>
              <a:rPr lang="en-US" sz="1400" dirty="0">
                <a:latin typeface="Times New Roman" panose="02020603050405020304" pitchFamily="18" charset="0"/>
                <a:cs typeface="Times New Roman" panose="02020603050405020304" pitchFamily="18" charset="0"/>
              </a:rPr>
              <a:t>Sharing this private network data with a central server can create privacy and security problems.</a:t>
            </a:r>
          </a:p>
          <a:p>
            <a:r>
              <a:rPr lang="en-US" sz="1400" dirty="0">
                <a:latin typeface="Times New Roman" panose="02020603050405020304" pitchFamily="18" charset="0"/>
                <a:cs typeface="Times New Roman" panose="02020603050405020304" pitchFamily="18" charset="0"/>
              </a:rPr>
              <a:t>Anomaly-based IDS can detect new attacks, but they can also produce false alarms. </a:t>
            </a:r>
            <a:endParaRPr lang="en-IN" sz="1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3ACAA950-7317-9A1E-5491-48C12E274F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45829" y="2649894"/>
            <a:ext cx="4152122" cy="2698393"/>
          </a:xfrm>
          <a:prstGeom prst="rect">
            <a:avLst/>
          </a:prstGeom>
        </p:spPr>
      </p:pic>
    </p:spTree>
    <p:extLst>
      <p:ext uri="{BB962C8B-B14F-4D97-AF65-F5344CB8AC3E}">
        <p14:creationId xmlns:p14="http://schemas.microsoft.com/office/powerpoint/2010/main" val="2669012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Fed-ANIDS: Federated Learning for Anomaly-Based NIDS</a:t>
            </a:r>
            <a:br>
              <a:rPr lang="en-US" sz="1400" dirty="0"/>
            </a:br>
            <a:r>
              <a:rPr lang="en-US" sz="1400" i="1" dirty="0"/>
              <a:t>Janati Idrissi et al., 2023 | Expert Systems with Applications</a:t>
            </a:r>
            <a:endParaRPr lang="en-IN" sz="1400" dirty="0"/>
          </a:p>
        </p:txBody>
      </p:sp>
      <p:sp>
        <p:nvSpPr>
          <p:cNvPr id="90" name="ContentBox9"/>
          <p:cNvSpPr txBox="1"/>
          <p:nvPr/>
        </p:nvSpPr>
        <p:spPr>
          <a:xfrm>
            <a:off x="250000" y="1759331"/>
            <a:ext cx="11692000" cy="4530000"/>
          </a:xfrm>
          <a:prstGeom prst="rect">
            <a:avLst/>
          </a:prstGeom>
          <a:noFill/>
        </p:spPr>
        <p:txBody>
          <a:bodyPr wrap="square" lIns="0" tIns="0" rIns="0" bIns="0">
            <a:normAutofit/>
          </a:bodyPr>
          <a:lstStyle/>
          <a:p>
            <a:pPr marL="285750" indent="-285750">
              <a:buFont typeface="Arial"/>
              <a:buChar char="•"/>
            </a:pPr>
            <a:r>
              <a:rPr lang="en-IN" sz="1400" dirty="0">
                <a:latin typeface="Times New Roman" panose="02020603050405020304" pitchFamily="18" charset="0"/>
                <a:cs typeface="Times New Roman" panose="02020603050405020304" pitchFamily="18" charset="0"/>
              </a:rPr>
              <a:t>Evaluated on USTC and CIC-IDS-2017/2018 network traffic datasets across distributed simulated clients.</a:t>
            </a:r>
          </a:p>
          <a:p>
            <a:pPr marL="285750" indent="-285750">
              <a:buFont typeface="Arial"/>
              <a:buChar char="•"/>
            </a:pPr>
            <a:r>
              <a:rPr lang="en-IN" sz="1400" dirty="0">
                <a:latin typeface="Times New Roman" panose="02020603050405020304" pitchFamily="18" charset="0"/>
                <a:cs typeface="Times New Roman" panose="02020603050405020304" pitchFamily="18" charset="0"/>
              </a:rPr>
              <a:t>Related evaluation on NSL-KDD reported a detection rate of 84.86% with a 4.86% false-alarm rate.</a:t>
            </a:r>
          </a:p>
          <a:p>
            <a:pPr marL="285750" indent="-285750">
              <a:buFont typeface="Arial"/>
              <a:buChar char="•"/>
            </a:pPr>
            <a:r>
              <a:rPr lang="en-IN" sz="1400" dirty="0">
                <a:latin typeface="Times New Roman" panose="02020603050405020304" pitchFamily="18" charset="0"/>
                <a:cs typeface="Times New Roman" panose="02020603050405020304" pitchFamily="18" charset="0"/>
              </a:rPr>
              <a:t>Each client trains its autoencoder locally; only model parameters are exchanged with the aggregator.</a:t>
            </a:r>
          </a:p>
          <a:p>
            <a:pPr marL="285750" indent="-285750">
              <a:buFont typeface="Arial"/>
              <a:buChar char="•"/>
            </a:pPr>
            <a:endParaRPr lang="en-IN"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The methodology has 5 main steps:</a:t>
            </a:r>
          </a:p>
          <a:p>
            <a:pPr marL="285750" indent="-285750">
              <a:buFont typeface="Arial"/>
              <a:buChar char="•"/>
            </a:pPr>
            <a:r>
              <a:rPr lang="en-US" sz="1400" dirty="0">
                <a:latin typeface="Times New Roman" panose="02020603050405020304" pitchFamily="18" charset="0"/>
                <a:cs typeface="Times New Roman" panose="02020603050405020304" pitchFamily="18" charset="0"/>
              </a:rPr>
              <a:t>Data Collection: Network traffic data is collected from different clients using datasets such as USTC-TFC2016, CIC-IDS2017, and CSE-CIC-IDS2018.</a:t>
            </a:r>
          </a:p>
          <a:p>
            <a:pPr marL="285750" indent="-285750">
              <a:buFont typeface="Arial"/>
              <a:buChar char="•"/>
            </a:pPr>
            <a:r>
              <a:rPr lang="en-US" sz="1400" dirty="0">
                <a:latin typeface="Times New Roman" panose="02020603050405020304" pitchFamily="18" charset="0"/>
                <a:cs typeface="Times New Roman" panose="02020603050405020304" pitchFamily="18" charset="0"/>
              </a:rPr>
              <a:t>Data Preprocessing: The data is cleaned, useful features are selected, and the features are converted and normalized for model training.</a:t>
            </a:r>
          </a:p>
          <a:p>
            <a:pPr marL="285750" indent="-285750">
              <a:buFont typeface="Arial"/>
              <a:buChar char="•"/>
            </a:pPr>
            <a:r>
              <a:rPr lang="en-US" sz="1400" dirty="0">
                <a:latin typeface="Times New Roman" panose="02020603050405020304" pitchFamily="18" charset="0"/>
                <a:cs typeface="Times New Roman" panose="02020603050405020304" pitchFamily="18" charset="0"/>
              </a:rPr>
              <a:t>Local Autoencoder Training: Each client trains an Autoencoder on its own network data to learn normal traffic patterns. High reconstruction error indicates possible attack traffic.</a:t>
            </a:r>
          </a:p>
          <a:p>
            <a:pPr marL="285750" indent="-285750">
              <a:buFont typeface="Arial"/>
              <a:buChar char="•"/>
            </a:pPr>
            <a:r>
              <a:rPr lang="en-US" sz="1400" dirty="0">
                <a:latin typeface="Times New Roman" panose="02020603050405020304" pitchFamily="18" charset="0"/>
                <a:cs typeface="Times New Roman" panose="02020603050405020304" pitchFamily="18" charset="0"/>
              </a:rPr>
              <a:t>Federated Learning: Clients do not share their original data. They train locally and send only model updates to the central server, which creates a global model.</a:t>
            </a:r>
          </a:p>
          <a:p>
            <a:pPr marL="285750" indent="-285750">
              <a:buFont typeface="Arial"/>
              <a:buChar char="•"/>
            </a:pPr>
            <a:r>
              <a:rPr lang="en-US" sz="1400" dirty="0" err="1">
                <a:latin typeface="Times New Roman" panose="02020603050405020304" pitchFamily="18" charset="0"/>
                <a:cs typeface="Times New Roman" panose="02020603050405020304" pitchFamily="18" charset="0"/>
              </a:rPr>
              <a:t>FedAvg</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FedProx</a:t>
            </a:r>
            <a:r>
              <a:rPr lang="en-US" sz="1400" dirty="0">
                <a:latin typeface="Times New Roman" panose="02020603050405020304" pitchFamily="18" charset="0"/>
                <a:cs typeface="Times New Roman" panose="02020603050405020304" pitchFamily="18" charset="0"/>
              </a:rPr>
              <a:t>: The study compares </a:t>
            </a:r>
            <a:r>
              <a:rPr lang="en-US" sz="1400" dirty="0" err="1">
                <a:latin typeface="Times New Roman" panose="02020603050405020304" pitchFamily="18" charset="0"/>
                <a:cs typeface="Times New Roman" panose="02020603050405020304" pitchFamily="18" charset="0"/>
              </a:rPr>
              <a:t>FedAvg</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FedProx</a:t>
            </a:r>
            <a:r>
              <a:rPr lang="en-US" sz="1400" dirty="0">
                <a:latin typeface="Times New Roman" panose="02020603050405020304" pitchFamily="18" charset="0"/>
                <a:cs typeface="Times New Roman" panose="02020603050405020304" pitchFamily="18" charset="0"/>
              </a:rPr>
              <a:t> for combining client updates. </a:t>
            </a:r>
            <a:r>
              <a:rPr lang="en-US" sz="1400" dirty="0" err="1">
                <a:latin typeface="Times New Roman" panose="02020603050405020304" pitchFamily="18" charset="0"/>
                <a:cs typeface="Times New Roman" panose="02020603050405020304" pitchFamily="18" charset="0"/>
              </a:rPr>
              <a:t>FedProx</a:t>
            </a:r>
            <a:r>
              <a:rPr lang="en-US" sz="1400" dirty="0">
                <a:latin typeface="Times New Roman" panose="02020603050405020304" pitchFamily="18" charset="0"/>
                <a:cs typeface="Times New Roman" panose="02020603050405020304" pitchFamily="18" charset="0"/>
              </a:rPr>
              <a:t> performs better than </a:t>
            </a:r>
            <a:r>
              <a:rPr lang="en-US" sz="1400" dirty="0" err="1">
                <a:latin typeface="Times New Roman" panose="02020603050405020304" pitchFamily="18" charset="0"/>
                <a:cs typeface="Times New Roman" panose="02020603050405020304" pitchFamily="18" charset="0"/>
              </a:rPr>
              <a:t>FedAvg</a:t>
            </a:r>
            <a:r>
              <a:rPr lang="en-US" sz="1400" dirty="0">
                <a:latin typeface="Times New Roman" panose="02020603050405020304" pitchFamily="18" charset="0"/>
                <a:cs typeface="Times New Roman" panose="02020603050405020304" pitchFamily="18" charset="0"/>
              </a:rPr>
              <a:t> in the reported experiments.</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05088122-2446-F39E-3138-6DD0B52D9F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70376" y="4254758"/>
            <a:ext cx="3954624" cy="2025241"/>
          </a:xfrm>
          <a:prstGeom prst="rect">
            <a:avLst/>
          </a:prstGeom>
        </p:spPr>
      </p:pic>
    </p:spTree>
    <p:extLst>
      <p:ext uri="{BB962C8B-B14F-4D97-AF65-F5344CB8AC3E}">
        <p14:creationId xmlns:p14="http://schemas.microsoft.com/office/powerpoint/2010/main" val="39819104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10</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Fed-ANIDS: Federated Learning for Anomaly-Based NIDS</a:t>
            </a:r>
            <a:br>
              <a:rPr lang="en-US" sz="1400" dirty="0"/>
            </a:br>
            <a:r>
              <a:rPr lang="en-US" sz="1400" i="1" dirty="0"/>
              <a:t>Janati Idrissi et al., 2023 | Expert Systems with Applications</a:t>
            </a:r>
            <a:endParaRPr lang="en-IN" sz="1400" dirty="0"/>
          </a:p>
        </p:txBody>
      </p:sp>
      <p:sp>
        <p:nvSpPr>
          <p:cNvPr id="90" name="ContentBox10"/>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US" sz="1400" dirty="0">
                <a:latin typeface="Times New Roman" panose="02020603050405020304" pitchFamily="18" charset="0"/>
                <a:cs typeface="Times New Roman" panose="02020603050405020304" pitchFamily="18" charset="0"/>
              </a:rPr>
              <a:t>The proposed Secure IoT Intrusion Detection System detects malicious network traffic, classifies traffic as Normal or Attack, supports early threat detection, protects data privacy through Federated Learning, provides real-time security alerts, and uses XAI to explain the reasons behind model predictions. The system can also visualize attack patterns and evaluate performance using standard metrics such as Accuracy, Precision, Recall, and F1-score.</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77514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11</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Fed-ANIDS: Federated Learning for Anomaly-Based NIDS</a:t>
            </a:r>
            <a:br>
              <a:rPr lang="en-US" sz="1400" dirty="0"/>
            </a:br>
            <a:r>
              <a:rPr lang="en-US" sz="1400" i="1" dirty="0"/>
              <a:t>Janati Idrissi et al., 2023 | Expert Systems with Applications</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91" name="StrengthsBox11"/>
          <p:cNvSpPr txBox="1"/>
          <p:nvPr/>
        </p:nvSpPr>
        <p:spPr>
          <a:xfrm>
            <a:off x="393386"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US" sz="1200" dirty="0">
                <a:latin typeface="Times New Roman" panose="02020603050405020304" pitchFamily="18" charset="0"/>
                <a:cs typeface="Times New Roman" panose="02020603050405020304" pitchFamily="18" charset="0"/>
              </a:rPr>
              <a:t>Provides accurate detection of malicious IoT traffic.</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Protects sensitive data using Federated Learning.</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Detects unusual and potentially unknown attacks.</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Supports real-time monitoring and security alerts.</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XAI explains why the system predicted an attack.</a:t>
            </a:r>
          </a:p>
          <a:p>
            <a:pPr marL="285750" indent="-285750">
              <a:buFont typeface="Arial"/>
              <a:buChar char="•"/>
            </a:pPr>
            <a:r>
              <a:rPr lang="en-US" sz="1200" dirty="0">
                <a:latin typeface="Times New Roman" panose="02020603050405020304" pitchFamily="18" charset="0"/>
                <a:cs typeface="Times New Roman" panose="02020603050405020304" pitchFamily="18" charset="0"/>
              </a:rPr>
              <a:t>Can support multiple IoT devices and clients.</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Reduces the need to share raw network data.</a:t>
            </a:r>
            <a:endParaRPr lang="en-IN" sz="1200" dirty="0">
              <a:latin typeface="Times New Roman" panose="02020603050405020304" pitchFamily="18" charset="0"/>
              <a:cs typeface="Times New Roman" panose="02020603050405020304" pitchFamily="18" charset="0"/>
            </a:endParaRPr>
          </a:p>
        </p:txBody>
      </p:sp>
      <p:sp>
        <p:nvSpPr>
          <p:cNvPr id="92" name="LimitationsBox11"/>
          <p:cNvSpPr txBox="1"/>
          <p:nvPr/>
        </p:nvSpPr>
        <p:spPr>
          <a:xfrm>
            <a:off x="6259202"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US" sz="1200" dirty="0">
                <a:latin typeface="Times New Roman" panose="02020603050405020304" pitchFamily="18" charset="0"/>
                <a:cs typeface="Times New Roman" panose="02020603050405020304" pitchFamily="18" charset="0"/>
              </a:rPr>
              <a:t>Requires sufficient computational resources for model training.</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Federated Learning creates communication overhead.</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Different client data can affect model performance.</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The system may generate false positives.</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Some advanced attacks may remain undetected.</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Performance depends on the quality of the dataset.</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IoT devices may have limited processing and memory resources.</a:t>
            </a:r>
          </a:p>
          <a:p>
            <a:pPr marL="285750" indent="-285750">
              <a:buFont typeface="Arial"/>
              <a:buChar char="•"/>
            </a:pPr>
            <a:endParaRPr lang="en-US" sz="1200" dirty="0">
              <a:latin typeface="Times New Roman" panose="02020603050405020304" pitchFamily="18" charset="0"/>
              <a:cs typeface="Times New Roman" panose="02020603050405020304" pitchFamily="18" charset="0"/>
            </a:endParaRPr>
          </a:p>
          <a:p>
            <a:pPr marL="285750" indent="-285750">
              <a:buFont typeface="Arial"/>
              <a:buChar char="•"/>
            </a:pPr>
            <a:r>
              <a:rPr lang="en-US" sz="1200" dirty="0">
                <a:latin typeface="Times New Roman" panose="02020603050405020304" pitchFamily="18" charset="0"/>
                <a:cs typeface="Times New Roman" panose="02020603050405020304" pitchFamily="18" charset="0"/>
              </a:rPr>
              <a:t>XAI explanations may not always be completely accurate or comprehensive.</a:t>
            </a: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388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12</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02 – Fed-ANIDS: Federated Learning for Anomaly-Based NIDS</a:t>
            </a:r>
            <a:br>
              <a:rPr lang="en-US" sz="1400" dirty="0"/>
            </a:br>
            <a:r>
              <a:rPr lang="en-US" sz="1400" i="1" dirty="0"/>
              <a:t>Janati Idrissi et al., 2023 | Expert Systems with Applications</a:t>
            </a:r>
            <a:endParaRPr lang="en-IN" sz="1400" dirty="0"/>
          </a:p>
        </p:txBody>
      </p:sp>
      <p:sp>
        <p:nvSpPr>
          <p:cNvPr id="90" name="ContentBox12"/>
          <p:cNvSpPr txBox="1"/>
          <p:nvPr/>
        </p:nvSpPr>
        <p:spPr>
          <a:xfrm>
            <a:off x="250000" y="1750000"/>
            <a:ext cx="11692000" cy="4530000"/>
          </a:xfrm>
          <a:prstGeom prst="rect">
            <a:avLst/>
          </a:prstGeom>
          <a:noFill/>
        </p:spPr>
        <p:txBody>
          <a:bodyPr wrap="square" lIns="0" tIns="0" rIns="0" bIns="0">
            <a:normAutofit/>
          </a:bodyPr>
          <a:lstStyle/>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Nowadays, many computers and devices are connected through networks. Because of this, cyber attacks and network intrusions are increasing.</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Traditional Intrusion Detection Systems (IDS) have some problems: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They mainly depend on previously known attack patterns.</a:t>
            </a:r>
          </a:p>
          <a:p>
            <a:r>
              <a:rPr lang="en-US" sz="1400" dirty="0">
                <a:latin typeface="Times New Roman" panose="02020603050405020304" pitchFamily="18" charset="0"/>
                <a:cs typeface="Times New Roman" panose="02020603050405020304" pitchFamily="18" charset="0"/>
              </a:rPr>
              <a:t>They may fail to detect new or unknown attacks.</a:t>
            </a:r>
          </a:p>
          <a:p>
            <a:r>
              <a:rPr lang="en-US" sz="1400" dirty="0">
                <a:latin typeface="Times New Roman" panose="02020603050405020304" pitchFamily="18" charset="0"/>
                <a:cs typeface="Times New Roman" panose="02020603050405020304" pitchFamily="18" charset="0"/>
              </a:rPr>
              <a:t>Organizations usually have network data at different locations.</a:t>
            </a:r>
          </a:p>
          <a:p>
            <a:r>
              <a:rPr lang="en-US" sz="1400" dirty="0">
                <a:latin typeface="Times New Roman" panose="02020603050405020304" pitchFamily="18" charset="0"/>
                <a:cs typeface="Times New Roman" panose="02020603050405020304" pitchFamily="18" charset="0"/>
              </a:rPr>
              <a:t>Sharing this private network data with a central server can create privacy and security problems.</a:t>
            </a:r>
          </a:p>
          <a:p>
            <a:r>
              <a:rPr lang="en-US" sz="1400" dirty="0">
                <a:latin typeface="Times New Roman" panose="02020603050405020304" pitchFamily="18" charset="0"/>
                <a:cs typeface="Times New Roman" panose="02020603050405020304" pitchFamily="18" charset="0"/>
              </a:rPr>
              <a:t>Anomaly-based IDS can detect new attacks, but they can also produce false alarms.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02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13</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latin typeface="Times New Roman" panose="02020603050405020304" pitchFamily="18" charset="0"/>
                <a:cs typeface="Times New Roman" panose="02020603050405020304" pitchFamily="18" charset="0"/>
              </a:rPr>
              <a:t>| Proposed Method | </a:t>
            </a:r>
            <a:r>
              <a:rPr lang="en-IN" sz="1400" dirty="0">
                <a:solidFill>
                  <a:schemeClr val="bg1">
                    <a:lumMod val="75000"/>
                  </a:schemeClr>
                </a:solidFill>
                <a:latin typeface="Times New Roman" panose="02020603050405020304" pitchFamily="18" charset="0"/>
                <a:cs typeface="Times New Roman" panose="02020603050405020304" pitchFamily="18" charset="0"/>
              </a:rPr>
              <a:t>Data &amp; Setup | 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SIDS: Federated Learning for Intrusion Detection in IoT using Social IoT</a:t>
            </a:r>
            <a:br>
              <a:rPr lang="en-US" sz="1400" dirty="0"/>
            </a:br>
            <a:r>
              <a:rPr lang="en-US" sz="1400" i="1" dirty="0"/>
              <a:t>Amiri-Zarandi, Dara &amp; Lin, 2023 | Computer Networks</a:t>
            </a:r>
            <a:endParaRPr lang="en-IN" sz="1400" dirty="0"/>
          </a:p>
        </p:txBody>
      </p:sp>
      <p:sp>
        <p:nvSpPr>
          <p:cNvPr id="90" name="ContentBox13"/>
          <p:cNvSpPr txBox="1"/>
          <p:nvPr/>
        </p:nvSpPr>
        <p:spPr>
          <a:xfrm>
            <a:off x="250000" y="1750000"/>
            <a:ext cx="11692000" cy="4530000"/>
          </a:xfrm>
          <a:prstGeom prst="rect">
            <a:avLst/>
          </a:prstGeom>
          <a:noFill/>
        </p:spPr>
        <p:txBody>
          <a:bodyPr wrap="square" lIns="0" tIns="0" rIns="0" bIns="0">
            <a:normAutofit/>
          </a:bodyPr>
          <a:lstStyle/>
          <a:p>
            <a:endParaRPr lang="en-IN" sz="1400"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Problem Statement – SIDS</a:t>
            </a:r>
          </a:p>
          <a:p>
            <a:pPr marL="285750" indent="-285750">
              <a:buFont typeface="Arial"/>
              <a:buChar char="•"/>
            </a:pPr>
            <a:r>
              <a:rPr lang="en-US" sz="1400" dirty="0">
                <a:latin typeface="Times New Roman" panose="02020603050405020304" pitchFamily="18" charset="0"/>
                <a:cs typeface="Times New Roman" panose="02020603050405020304" pitchFamily="18" charset="0"/>
              </a:rPr>
              <a:t>IoT devices are vulnerable to cyberattacks, so an Intrusion Detection System (IDS) is needed. Federated Learning protects data privacy by keeping data on local devices, but malicious devices can send false or poisoned updates and reduce the model’s accuracy. Therefore, SIDS aims to identify trusted and untrusted IoT devices and provide secure, privacy-preserving intrusion detection.</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77A068EA-E41D-BDEB-C126-C48AC46956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8660" y="2939143"/>
            <a:ext cx="5774140" cy="3152094"/>
          </a:xfrm>
          <a:prstGeom prst="rect">
            <a:avLst/>
          </a:prstGeom>
        </p:spPr>
      </p:pic>
    </p:spTree>
    <p:extLst>
      <p:ext uri="{BB962C8B-B14F-4D97-AF65-F5344CB8AC3E}">
        <p14:creationId xmlns:p14="http://schemas.microsoft.com/office/powerpoint/2010/main" val="1997796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14</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a:t>
            </a:r>
            <a:r>
              <a:rPr lang="en-IN" sz="1400" dirty="0">
                <a:latin typeface="Times New Roman" panose="02020603050405020304" pitchFamily="18" charset="0"/>
                <a:cs typeface="Times New Roman" panose="02020603050405020304" pitchFamily="18" charset="0"/>
              </a:rPr>
              <a:t>| Data &amp; Setup | </a:t>
            </a:r>
            <a:r>
              <a:rPr lang="en-IN" sz="1400" dirty="0">
                <a:solidFill>
                  <a:schemeClr val="bg1">
                    <a:lumMod val="75000"/>
                  </a:schemeClr>
                </a:solidFill>
                <a:latin typeface="Times New Roman" panose="02020603050405020304" pitchFamily="18" charset="0"/>
                <a:cs typeface="Times New Roman" panose="02020603050405020304" pitchFamily="18" charset="0"/>
              </a:rPr>
              <a:t>key Results | 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SIDS: Federated Learning for Intrusion Detection in IoT using Social IoT</a:t>
            </a:r>
            <a:br>
              <a:rPr lang="en-US" sz="1400" dirty="0"/>
            </a:br>
            <a:r>
              <a:rPr lang="en-US" sz="1400" i="1" dirty="0"/>
              <a:t>Amiri-Zarandi, Dara &amp; Lin, 2023 | Computer Networks</a:t>
            </a:r>
            <a:endParaRPr lang="en-IN" sz="1400" dirty="0"/>
          </a:p>
        </p:txBody>
      </p:sp>
      <p:sp>
        <p:nvSpPr>
          <p:cNvPr id="90" name="ContentBox14"/>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IN" sz="1400" dirty="0">
                <a:latin typeface="Times New Roman" panose="02020603050405020304" pitchFamily="18" charset="0"/>
                <a:cs typeface="Times New Roman" panose="02020603050405020304" pitchFamily="18" charset="0"/>
              </a:rPr>
              <a:t>Simulated SIoT federated-learning setting with multiple client nodes, some deliberately acting as malicious / dishonest participants.</a:t>
            </a:r>
          </a:p>
          <a:p>
            <a:pPr marL="285750" indent="-285750">
              <a:buFont typeface="Arial"/>
              <a:buChar char="•"/>
            </a:pPr>
            <a:r>
              <a:rPr lang="en-IN" sz="1400" dirty="0">
                <a:latin typeface="Times New Roman" panose="02020603050405020304" pitchFamily="18" charset="0"/>
                <a:cs typeface="Times New Roman" panose="02020603050405020304" pitchFamily="18" charset="0"/>
              </a:rPr>
              <a:t>Compared trust-weighted (Social Tie) aggregation against standard federated averaging under attack conditions.</a:t>
            </a:r>
          </a:p>
          <a:p>
            <a:pPr marL="285750" indent="-285750">
              <a:buFont typeface="Arial"/>
              <a:buChar char="•"/>
            </a:pPr>
            <a:endParaRPr lang="en-IN"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Sitka Text Semibold" pitchFamily="2" charset="0"/>
                <a:cs typeface="Times New Roman" panose="02020603050405020304" pitchFamily="18" charset="0"/>
              </a:rPr>
              <a:t>Methodology</a:t>
            </a:r>
          </a:p>
          <a:p>
            <a:pPr marL="285750" indent="-285750">
              <a:buFont typeface="Arial"/>
              <a:buChar char="•"/>
            </a:pPr>
            <a:endParaRPr lang="en-US" sz="1400" dirty="0">
              <a:latin typeface="Times New Roman" panose="02020603050405020304" pitchFamily="18" charset="0"/>
              <a:cs typeface="Times New Roman" panose="02020603050405020304" pitchFamily="18" charset="0"/>
            </a:endParaRPr>
          </a:p>
          <a:p>
            <a:pPr marL="285750" indent="-285750">
              <a:buFont typeface="Arial"/>
              <a:buChar char="•"/>
            </a:pPr>
            <a:r>
              <a:rPr lang="en-US" sz="1400" dirty="0">
                <a:latin typeface="Times New Roman" panose="02020603050405020304" pitchFamily="18" charset="0"/>
                <a:cs typeface="Times New Roman" panose="02020603050405020304" pitchFamily="18" charset="0"/>
              </a:rPr>
              <a:t>The paper proposes SIDS (Social Intrusion Detection System), which combines Federated Learning (FL), Social Internet of Things (</a:t>
            </a:r>
            <a:r>
              <a:rPr lang="en-US" sz="1400" dirty="0" err="1">
                <a:latin typeface="Times New Roman" panose="02020603050405020304" pitchFamily="18" charset="0"/>
                <a:cs typeface="Times New Roman" panose="02020603050405020304" pitchFamily="18" charset="0"/>
              </a:rPr>
              <a:t>SIoT</a:t>
            </a:r>
            <a:r>
              <a:rPr lang="en-US" sz="1400" dirty="0">
                <a:latin typeface="Times New Roman" panose="02020603050405020304" pitchFamily="18" charset="0"/>
                <a:cs typeface="Times New Roman" panose="02020603050405020304" pitchFamily="18" charset="0"/>
              </a:rPr>
              <a:t>), trust management, GAN-based attack analysis, and collaborative feature selection.</a:t>
            </a:r>
          </a:p>
          <a:p>
            <a:pPr marL="285750" indent="-285750">
              <a:buFont typeface="Arial"/>
              <a:buChar char="•"/>
            </a:pPr>
            <a:r>
              <a:rPr lang="en-US" sz="1400" dirty="0">
                <a:latin typeface="Times New Roman" panose="02020603050405020304" pitchFamily="18" charset="0"/>
                <a:cs typeface="Times New Roman" panose="02020603050405020304" pitchFamily="18" charset="0"/>
              </a:rPr>
              <a:t>Main steps:</a:t>
            </a:r>
          </a:p>
          <a:p>
            <a:pPr marL="285750" indent="-285750">
              <a:buFont typeface="Arial"/>
              <a:buChar char="•"/>
            </a:pPr>
            <a:r>
              <a:rPr lang="en-US" sz="1400" dirty="0">
                <a:latin typeface="Times New Roman" panose="02020603050405020304" pitchFamily="18" charset="0"/>
                <a:cs typeface="Times New Roman" panose="02020603050405020304" pitchFamily="18" charset="0"/>
              </a:rPr>
              <a:t>1. Local IoT data collection</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Different IoT/edge devices keep their intrusion-detection data locally.</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Raw data is not shared with a central server, improving privacy.</a:t>
            </a:r>
          </a:p>
          <a:p>
            <a:pPr marL="285750" indent="-285750">
              <a:buFont typeface="Arial"/>
              <a:buChar char="•"/>
            </a:pPr>
            <a:r>
              <a:rPr lang="en-US" sz="1400" dirty="0">
                <a:latin typeface="Times New Roman" panose="02020603050405020304" pitchFamily="18" charset="0"/>
                <a:cs typeface="Times New Roman" panose="02020603050405020304" pitchFamily="18" charset="0"/>
              </a:rPr>
              <a:t>2. Federated Learning</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Each participant trains an IDS model using its own local data.</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Only the trained model parameters/weights are sent to the central aggregation process.</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The global model is created from the contributions of multiple participants.</a:t>
            </a:r>
          </a:p>
          <a:p>
            <a:pPr marL="285750" indent="-285750">
              <a:buFont typeface="Arial"/>
              <a:buChar char="•"/>
            </a:pPr>
            <a:r>
              <a:rPr lang="en-US" sz="1400" dirty="0">
                <a:latin typeface="Times New Roman" panose="02020603050405020304" pitchFamily="18" charset="0"/>
                <a:cs typeface="Times New Roman" panose="02020603050405020304" pitchFamily="18" charset="0"/>
              </a:rPr>
              <a:t>3. GAN-based model poisoning attack</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The authors first demonstrate the weakness of ordinary federated learning.</a:t>
            </a:r>
          </a:p>
          <a:p>
            <a:pPr marL="285750" indent="-285750">
              <a:buFont typeface="Arial"/>
              <a:buChar char="•"/>
            </a:pPr>
            <a:r>
              <a:rPr lang="en-US" sz="1400" dirty="0">
                <a:latin typeface="Times New Roman" panose="02020603050405020304" pitchFamily="18" charset="0"/>
                <a:cs typeface="Times New Roman" panose="02020603050405020304" pitchFamily="18" charset="0"/>
              </a:rPr>
              <a:t>    * A malicious participant uses a Generative Adversarial Network (GAN) to generate fabricated data and produce a poisoned model.</a:t>
            </a:r>
            <a:endParaRPr lang="en-IN" sz="1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1F8A2250-1408-B596-FBD3-41CBEABEEF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68547" y="3153747"/>
            <a:ext cx="3704252" cy="2022145"/>
          </a:xfrm>
          <a:prstGeom prst="rect">
            <a:avLst/>
          </a:prstGeom>
        </p:spPr>
      </p:pic>
    </p:spTree>
    <p:extLst>
      <p:ext uri="{BB962C8B-B14F-4D97-AF65-F5344CB8AC3E}">
        <p14:creationId xmlns:p14="http://schemas.microsoft.com/office/powerpoint/2010/main" val="204099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15</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a:t>
            </a:r>
            <a:r>
              <a:rPr lang="en-IN" sz="1400" dirty="0">
                <a:latin typeface="Times New Roman" panose="02020603050405020304" pitchFamily="18" charset="0"/>
                <a:cs typeface="Times New Roman" panose="02020603050405020304" pitchFamily="18" charset="0"/>
              </a:rPr>
              <a:t>| key Results | </a:t>
            </a:r>
            <a:r>
              <a:rPr lang="en-IN" sz="1400" dirty="0">
                <a:solidFill>
                  <a:schemeClr val="bg1">
                    <a:lumMod val="75000"/>
                  </a:schemeClr>
                </a:solidFill>
                <a:latin typeface="Times New Roman" panose="02020603050405020304" pitchFamily="18" charset="0"/>
                <a:cs typeface="Times New Roman" panose="02020603050405020304" pitchFamily="18" charset="0"/>
              </a:rPr>
              <a:t>Strengths &amp; Limitations |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SIDS: Federated Learning for Intrusion Detection in IoT using Social IoT</a:t>
            </a:r>
            <a:br>
              <a:rPr lang="en-US" sz="1400" dirty="0"/>
            </a:br>
            <a:r>
              <a:rPr lang="en-US" sz="1400" i="1" dirty="0"/>
              <a:t>Amiri-Zarandi, Dara &amp; Lin, 2023 | Computer Networks</a:t>
            </a:r>
            <a:endParaRPr lang="en-IN" sz="1400" dirty="0"/>
          </a:p>
        </p:txBody>
      </p:sp>
      <p:sp>
        <p:nvSpPr>
          <p:cNvPr id="90" name="ContentBox15"/>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IN" sz="1400" dirty="0">
                <a:latin typeface="Times New Roman" panose="02020603050405020304" pitchFamily="18" charset="0"/>
                <a:cs typeface="Times New Roman" panose="02020603050405020304" pitchFamily="18" charset="0"/>
              </a:rPr>
              <a:t>SIDS maintains higher detection accuracy than regular FL approaches when the system is under attack from malicious participants.</a:t>
            </a:r>
          </a:p>
          <a:p>
            <a:pPr marL="285750" indent="-285750">
              <a:buFont typeface="Arial"/>
              <a:buChar char="•"/>
            </a:pPr>
            <a:r>
              <a:rPr lang="en-IN" sz="1400" dirty="0">
                <a:latin typeface="Times New Roman" panose="02020603050405020304" pitchFamily="18" charset="0"/>
                <a:cs typeface="Times New Roman" panose="02020603050405020304" pitchFamily="18" charset="0"/>
              </a:rPr>
              <a:t>The Social Tie measurement successfully filters out untrustworthy model updates before aggregation, improving robustness.</a:t>
            </a:r>
          </a:p>
          <a:p>
            <a:pPr marL="285750" indent="-285750">
              <a:buFont typeface="Arial"/>
              <a:buChar char="•"/>
            </a:pPr>
            <a:r>
              <a:rPr lang="en-US" sz="1400" dirty="0">
                <a:latin typeface="Times New Roman" panose="02020603050405020304" pitchFamily="18" charset="0"/>
                <a:cs typeface="Times New Roman" panose="02020603050405020304" pitchFamily="18" charset="0"/>
              </a:rPr>
              <a:t>SIDS performed better than normal Federated Learning when malicious devices were present. The trust mechanism helped reduce the effect of false model updates. It also maintained data privacy because the original data stayed with the local devices. Feature selection helped make the training process faster.</a:t>
            </a:r>
          </a:p>
          <a:p>
            <a:pPr marL="285750" indent="-285750">
              <a:buFont typeface="Arial"/>
              <a:buChar char="•"/>
            </a:pPr>
            <a:r>
              <a:rPr lang="en-US" sz="1400" dirty="0">
                <a:latin typeface="Times New Roman" panose="02020603050405020304" pitchFamily="18" charset="0"/>
                <a:cs typeface="Times New Roman" panose="02020603050405020304" pitchFamily="18" charset="0"/>
              </a:rPr>
              <a:t>SIDS achieved better detection accuracy under attacks because it could identify and reduce the effect of dishonest devices.</a:t>
            </a:r>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751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16</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a:t>
            </a:r>
            <a:r>
              <a:rPr lang="en-IN" sz="1400" dirty="0">
                <a:latin typeface="Times New Roman" panose="02020603050405020304" pitchFamily="18" charset="0"/>
                <a:cs typeface="Times New Roman" panose="02020603050405020304" pitchFamily="18" charset="0"/>
              </a:rPr>
              <a:t>| Strengths &amp; Limitations | </a:t>
            </a:r>
            <a:r>
              <a:rPr lang="en-IN" sz="1400" dirty="0">
                <a:solidFill>
                  <a:schemeClr val="bg1">
                    <a:lumMod val="75000"/>
                  </a:schemeClr>
                </a:solidFill>
                <a:latin typeface="Times New Roman" panose="02020603050405020304" pitchFamily="18" charset="0"/>
                <a:cs typeface="Times New Roman" panose="02020603050405020304" pitchFamily="18" charset="0"/>
              </a:rPr>
              <a:t>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SIDS: Federated Learning for Intrusion Detection in IoT using Social IoT</a:t>
            </a:r>
            <a:br>
              <a:rPr lang="en-US" sz="1400" dirty="0"/>
            </a:br>
            <a:r>
              <a:rPr lang="en-US" sz="1400" i="1" dirty="0"/>
              <a:t>Amiri-Zarandi, Dara &amp; Lin, 2023 | Computer Networks</a:t>
            </a:r>
            <a:endParaRPr lang="en-IN" sz="1400" dirty="0"/>
          </a:p>
        </p:txBody>
      </p:sp>
      <p:sp>
        <p:nvSpPr>
          <p:cNvPr id="7" name="Rounded Rectangle 6"/>
          <p:cNvSpPr/>
          <p:nvPr/>
        </p:nvSpPr>
        <p:spPr>
          <a:xfrm>
            <a:off x="26416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8" name="Rounded Rectangle 17"/>
          <p:cNvSpPr/>
          <p:nvPr/>
        </p:nvSpPr>
        <p:spPr>
          <a:xfrm>
            <a:off x="6146800" y="2194560"/>
            <a:ext cx="5699760" cy="3749040"/>
          </a:xfrm>
          <a:prstGeom prst="roundRect">
            <a:avLst>
              <a:gd name="adj" fmla="val 365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p:nvSpPr>
        <p:spPr>
          <a:xfrm>
            <a:off x="6259202"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393386" y="2148841"/>
            <a:ext cx="5441307" cy="45719"/>
          </a:xfrm>
          <a:prstGeom prst="rect">
            <a:avLst/>
          </a:prstGeom>
          <a:solidFill>
            <a:srgbClr val="EC7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p:cNvSpPr txBox="1"/>
          <p:nvPr/>
        </p:nvSpPr>
        <p:spPr>
          <a:xfrm>
            <a:off x="393386" y="1799012"/>
            <a:ext cx="1075872"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Strengths</a:t>
            </a:r>
          </a:p>
        </p:txBody>
      </p:sp>
      <p:sp>
        <p:nvSpPr>
          <p:cNvPr id="20" name="TextBox 19"/>
          <p:cNvSpPr txBox="1"/>
          <p:nvPr/>
        </p:nvSpPr>
        <p:spPr>
          <a:xfrm>
            <a:off x="6259202" y="1779509"/>
            <a:ext cx="1249060"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Limitations</a:t>
            </a:r>
          </a:p>
        </p:txBody>
      </p:sp>
      <p:sp>
        <p:nvSpPr>
          <p:cNvPr id="91" name="StrengthsBox16"/>
          <p:cNvSpPr txBox="1"/>
          <p:nvPr/>
        </p:nvSpPr>
        <p:spPr>
          <a:xfrm>
            <a:off x="393386"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IN" sz="1200" dirty="0">
                <a:latin typeface="Times New Roman" panose="02020603050405020304" pitchFamily="18" charset="0"/>
                <a:cs typeface="Times New Roman" panose="02020603050405020304" pitchFamily="18" charset="0"/>
              </a:rPr>
              <a:t>Directly targets poisoning / malicious-participant robustness</a:t>
            </a:r>
          </a:p>
          <a:p>
            <a:pPr marL="285750" indent="-285750">
              <a:buFont typeface="Arial"/>
              <a:buChar char="•"/>
            </a:pPr>
            <a:r>
              <a:rPr lang="en-IN" sz="1200" dirty="0">
                <a:latin typeface="Times New Roman" panose="02020603050405020304" pitchFamily="18" charset="0"/>
                <a:cs typeface="Times New Roman" panose="02020603050405020304" pitchFamily="18" charset="0"/>
              </a:rPr>
              <a:t>Trust-based weighting is lightweight and IoT-appropriate</a:t>
            </a:r>
          </a:p>
        </p:txBody>
      </p:sp>
      <p:sp>
        <p:nvSpPr>
          <p:cNvPr id="92" name="LimitationsBox16"/>
          <p:cNvSpPr txBox="1"/>
          <p:nvPr/>
        </p:nvSpPr>
        <p:spPr>
          <a:xfrm>
            <a:off x="6259202" y="2300000"/>
            <a:ext cx="5441307" cy="3550000"/>
          </a:xfrm>
          <a:prstGeom prst="rect">
            <a:avLst/>
          </a:prstGeom>
          <a:noFill/>
        </p:spPr>
        <p:txBody>
          <a:bodyPr wrap="square" lIns="45720" tIns="45720" rIns="45720" bIns="45720" anchor="t">
            <a:normAutofit/>
          </a:bodyPr>
          <a:lstStyle/>
          <a:p>
            <a:pPr marL="285750" indent="-285750">
              <a:buFont typeface="Arial"/>
              <a:buChar char="•"/>
            </a:pPr>
            <a:r>
              <a:rPr lang="en-IN" sz="1200" dirty="0">
                <a:latin typeface="Times New Roman" panose="02020603050405020304" pitchFamily="18" charset="0"/>
                <a:cs typeface="Times New Roman" panose="02020603050405020304" pitchFamily="18" charset="0"/>
              </a:rPr>
              <a:t>Assumes a social/trust graph exists between IoT nodes</a:t>
            </a:r>
          </a:p>
          <a:p>
            <a:pPr marL="285750" indent="-285750">
              <a:buFont typeface="Arial"/>
              <a:buChar char="•"/>
            </a:pPr>
            <a:r>
              <a:rPr lang="en-IN" sz="1200" dirty="0">
                <a:latin typeface="Times New Roman" panose="02020603050405020304" pitchFamily="18" charset="0"/>
                <a:cs typeface="Times New Roman" panose="02020603050405020304" pitchFamily="18" charset="0"/>
              </a:rPr>
              <a:t>No explicit differential-privacy mechanism</a:t>
            </a:r>
          </a:p>
          <a:p>
            <a:pPr marL="285750" indent="-285750">
              <a:buFont typeface="Arial"/>
              <a:buChar char="•"/>
            </a:pPr>
            <a:r>
              <a:rPr lang="en-IN" sz="1200" dirty="0">
                <a:latin typeface="Times New Roman" panose="02020603050405020304" pitchFamily="18" charset="0"/>
                <a:cs typeface="Times New Roman" panose="02020603050405020304" pitchFamily="18" charset="0"/>
              </a:rPr>
              <a:t>Single-dataset, simulated evaluation only</a:t>
            </a:r>
          </a:p>
        </p:txBody>
      </p:sp>
    </p:spTree>
    <p:extLst>
      <p:ext uri="{BB962C8B-B14F-4D97-AF65-F5344CB8AC3E}">
        <p14:creationId xmlns:p14="http://schemas.microsoft.com/office/powerpoint/2010/main" val="2598163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17</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8" y="877163"/>
            <a:ext cx="2063808"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17" name="TextBox 16">
            <a:extLst>
              <a:ext uri="{FF2B5EF4-FFF2-40B4-BE49-F238E27FC236}">
                <a16:creationId xmlns:a16="http://schemas.microsoft.com/office/drawing/2014/main" id="{D13CE1DE-D210-C7A2-61C0-FF7B6B511F8A}"/>
              </a:ext>
            </a:extLst>
          </p:cNvPr>
          <p:cNvSpPr txBox="1"/>
          <p:nvPr/>
        </p:nvSpPr>
        <p:spPr>
          <a:xfrm flipH="1">
            <a:off x="135928" y="1326501"/>
            <a:ext cx="11920141" cy="307777"/>
          </a:xfrm>
          <a:prstGeom prst="rect">
            <a:avLst/>
          </a:prstGeom>
          <a:noFill/>
        </p:spPr>
        <p:txBody>
          <a:bodyPr wrap="square" rtlCol="0">
            <a:spAutoFit/>
          </a:bodyPr>
          <a:lstStyle/>
          <a:p>
            <a:r>
              <a:rPr lang="en-IN" sz="1400" dirty="0">
                <a:solidFill>
                  <a:schemeClr val="bg1">
                    <a:lumMod val="75000"/>
                  </a:schemeClr>
                </a:solidFill>
                <a:latin typeface="Times New Roman" panose="02020603050405020304" pitchFamily="18" charset="0"/>
                <a:cs typeface="Times New Roman" panose="02020603050405020304" pitchFamily="18" charset="0"/>
              </a:rPr>
              <a:t>| Proposed Method | Data &amp; Setup | key Results | Strengths &amp; Limitations </a:t>
            </a:r>
            <a:r>
              <a:rPr lang="en-IN" sz="1400" dirty="0">
                <a:latin typeface="Times New Roman" panose="02020603050405020304" pitchFamily="18" charset="0"/>
                <a:cs typeface="Times New Roman" panose="02020603050405020304" pitchFamily="18" charset="0"/>
              </a:rPr>
              <a:t>| Relevance to my research |</a:t>
            </a:r>
          </a:p>
        </p:txBody>
      </p:sp>
      <p:sp>
        <p:nvSpPr>
          <p:cNvPr id="6" name="Rectangle 5"/>
          <p:cNvSpPr/>
          <p:nvPr/>
        </p:nvSpPr>
        <p:spPr>
          <a:xfrm>
            <a:off x="2082799" y="862390"/>
            <a:ext cx="10020709" cy="523220"/>
          </a:xfrm>
          <a:prstGeom prst="rect">
            <a:avLst/>
          </a:prstGeom>
        </p:spPr>
        <p:txBody>
          <a:bodyPr wrap="square">
            <a:spAutoFit/>
          </a:bodyPr>
          <a:lstStyle/>
          <a:p>
            <a:r>
              <a:rPr lang="en-US" sz="1400" b="1" dirty="0"/>
              <a:t>Ref 03 – SIDS: Federated Learning for Intrusion Detection in IoT using Social IoT</a:t>
            </a:r>
            <a:br>
              <a:rPr lang="en-US" sz="1400" dirty="0"/>
            </a:br>
            <a:r>
              <a:rPr lang="en-US" sz="1400" i="1" dirty="0"/>
              <a:t>Amiri-Zarandi, Dara &amp; Lin, 2023 | Computer Networks</a:t>
            </a:r>
            <a:endParaRPr lang="en-IN" sz="1400" dirty="0"/>
          </a:p>
        </p:txBody>
      </p:sp>
      <p:sp>
        <p:nvSpPr>
          <p:cNvPr id="90" name="ContentBox17"/>
          <p:cNvSpPr txBox="1"/>
          <p:nvPr/>
        </p:nvSpPr>
        <p:spPr>
          <a:xfrm>
            <a:off x="250000" y="1750000"/>
            <a:ext cx="11692000" cy="4530000"/>
          </a:xfrm>
          <a:prstGeom prst="rect">
            <a:avLst/>
          </a:prstGeom>
          <a:noFill/>
        </p:spPr>
        <p:txBody>
          <a:bodyPr wrap="square" lIns="0" tIns="0" rIns="0" bIns="0">
            <a:normAutofit/>
          </a:bodyPr>
          <a:lstStyle/>
          <a:p>
            <a:pPr marL="285750" indent="-285750">
              <a:buFont typeface="Arial"/>
              <a:buChar char="•"/>
            </a:pPr>
            <a:r>
              <a:rPr lang="en-IN" sz="1400" dirty="0">
                <a:latin typeface="Times New Roman" panose="02020603050405020304" pitchFamily="18" charset="0"/>
                <a:cs typeface="Times New Roman" panose="02020603050405020304" pitchFamily="18" charset="0"/>
              </a:rPr>
              <a:t>SIDS highlights a security gap that FedPrIDS does not directly address: robustness to malicious / poisoning participants.</a:t>
            </a:r>
          </a:p>
          <a:p>
            <a:pPr marL="285750" indent="-285750">
              <a:buFont typeface="Arial"/>
              <a:buChar char="•"/>
            </a:pPr>
            <a:r>
              <a:rPr lang="en-IN" sz="1400" dirty="0">
                <a:latin typeface="Times New Roman" panose="02020603050405020304" pitchFamily="18" charset="0"/>
                <a:cs typeface="Times New Roman" panose="02020603050405020304" pitchFamily="18" charset="0"/>
              </a:rPr>
              <a:t>Its trust-weighted aggregation idea could complement FedPrIDS’s MAD-based outlier detection in our project.</a:t>
            </a:r>
          </a:p>
          <a:p>
            <a:pPr marL="285750" indent="-285750">
              <a:buFont typeface="Arial"/>
              <a:buChar char="•"/>
            </a:pPr>
            <a:r>
              <a:rPr lang="en-IN" sz="1400" dirty="0">
                <a:latin typeface="Times New Roman" panose="02020603050405020304" pitchFamily="18" charset="0"/>
                <a:cs typeface="Times New Roman" panose="02020603050405020304" pitchFamily="18" charset="0"/>
              </a:rPr>
              <a:t>Reinforces the need for participant-trust or robustness checks alongside differential privacy in our own design.</a:t>
            </a:r>
          </a:p>
        </p:txBody>
      </p:sp>
    </p:spTree>
    <p:extLst>
      <p:ext uri="{BB962C8B-B14F-4D97-AF65-F5344CB8AC3E}">
        <p14:creationId xmlns:p14="http://schemas.microsoft.com/office/powerpoint/2010/main" val="3867205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18</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Literature Review - Summary</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graphicFrame>
        <p:nvGraphicFramePr>
          <p:cNvPr id="7" name="Table 6"/>
          <p:cNvGraphicFramePr>
            <a:graphicFrameLocks noGrp="1"/>
          </p:cNvGraphicFramePr>
          <p:nvPr>
            <p:extLst>
              <p:ext uri="{D42A27DB-BD31-4B8C-83A1-F6EECF244321}">
                <p14:modId xmlns:p14="http://schemas.microsoft.com/office/powerpoint/2010/main" val="537275194"/>
              </p:ext>
            </p:extLst>
          </p:nvPr>
        </p:nvGraphicFramePr>
        <p:xfrm>
          <a:off x="582592" y="1437294"/>
          <a:ext cx="10887920" cy="3643990"/>
        </p:xfrm>
        <a:graphic>
          <a:graphicData uri="http://schemas.openxmlformats.org/drawingml/2006/table">
            <a:tbl>
              <a:tblPr firstRow="1" bandRow="1">
                <a:tableStyleId>{5940675A-B579-460E-94D1-54222C63F5DA}</a:tableStyleId>
              </a:tblPr>
              <a:tblGrid>
                <a:gridCol w="1859666">
                  <a:extLst>
                    <a:ext uri="{9D8B030D-6E8A-4147-A177-3AD203B41FA5}">
                      <a16:colId xmlns:a16="http://schemas.microsoft.com/office/drawing/2014/main" val="20000"/>
                    </a:ext>
                  </a:extLst>
                </a:gridCol>
                <a:gridCol w="1632031">
                  <a:extLst>
                    <a:ext uri="{9D8B030D-6E8A-4147-A177-3AD203B41FA5}">
                      <a16:colId xmlns:a16="http://schemas.microsoft.com/office/drawing/2014/main" val="20001"/>
                    </a:ext>
                  </a:extLst>
                </a:gridCol>
                <a:gridCol w="3041055">
                  <a:extLst>
                    <a:ext uri="{9D8B030D-6E8A-4147-A177-3AD203B41FA5}">
                      <a16:colId xmlns:a16="http://schemas.microsoft.com/office/drawing/2014/main" val="20002"/>
                    </a:ext>
                  </a:extLst>
                </a:gridCol>
                <a:gridCol w="2177584">
                  <a:extLst>
                    <a:ext uri="{9D8B030D-6E8A-4147-A177-3AD203B41FA5}">
                      <a16:colId xmlns:a16="http://schemas.microsoft.com/office/drawing/2014/main" val="20003"/>
                    </a:ext>
                  </a:extLst>
                </a:gridCol>
                <a:gridCol w="2177584">
                  <a:extLst>
                    <a:ext uri="{9D8B030D-6E8A-4147-A177-3AD203B41FA5}">
                      <a16:colId xmlns:a16="http://schemas.microsoft.com/office/drawing/2014/main" val="20004"/>
                    </a:ext>
                  </a:extLst>
                </a:gridCol>
              </a:tblGrid>
              <a:tr h="728798">
                <a:tc>
                  <a:txBody>
                    <a:bodyPr/>
                    <a:lstStyle/>
                    <a:p>
                      <a:pPr algn="ctr"/>
                      <a:r>
                        <a:rPr lang="en-IN" dirty="0">
                          <a:latin typeface="Times New Roman" panose="02020603050405020304" pitchFamily="18" charset="0"/>
                          <a:cs typeface="Times New Roman" panose="02020603050405020304" pitchFamily="18" charset="0"/>
                        </a:rPr>
                        <a:t>Reference</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Year</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Main Idea</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Strengths</a:t>
                      </a:r>
                    </a:p>
                  </a:txBody>
                  <a:tcPr anchor="ctr">
                    <a:solidFill>
                      <a:schemeClr val="bg1">
                        <a:lumMod val="85000"/>
                      </a:schemeClr>
                    </a:solidFill>
                  </a:tcPr>
                </a:tc>
                <a:tc>
                  <a:txBody>
                    <a:bodyPr/>
                    <a:lstStyle/>
                    <a:p>
                      <a:pPr algn="ctr"/>
                      <a:r>
                        <a:rPr lang="en-IN" dirty="0">
                          <a:latin typeface="Times New Roman" panose="02020603050405020304" pitchFamily="18" charset="0"/>
                          <a:cs typeface="Times New Roman" panose="02020603050405020304" pitchFamily="18" charset="0"/>
                        </a:rPr>
                        <a:t>Limitations</a:t>
                      </a:r>
                    </a:p>
                  </a:txBody>
                  <a:tcPr anchor="ctr">
                    <a:solidFill>
                      <a:schemeClr val="bg1">
                        <a:lumMod val="85000"/>
                      </a:schemeClr>
                    </a:solidFill>
                  </a:tcPr>
                </a:tc>
                <a:extLst>
                  <a:ext uri="{0D108BD9-81ED-4DB2-BD59-A6C34878D82A}">
                    <a16:rowId xmlns:a16="http://schemas.microsoft.com/office/drawing/2014/main" val="10000"/>
                  </a:ext>
                </a:extLst>
              </a:tr>
              <a:tr h="728798">
                <a:tc>
                  <a:txBody>
                    <a:bodyPr/>
                    <a:lstStyle/>
                    <a:p>
                      <a:pPr algn="l"/>
                      <a:r>
                        <a:rPr lang="en-IN" sz="1100" dirty="0">
                          <a:latin typeface="Times New Roman" panose="02020603050405020304" pitchFamily="18" charset="0"/>
                          <a:cs typeface="Times New Roman" panose="02020603050405020304" pitchFamily="18" charset="0"/>
                        </a:rPr>
                        <a:t>Mankotia et al. (FedPrIDS – base paper)</a:t>
                      </a:r>
                    </a:p>
                  </a:txBody>
                  <a:tcPr anchor="ctr">
                    <a:noFill/>
                  </a:tcPr>
                </a:tc>
                <a:tc>
                  <a:txBody>
                    <a:bodyPr/>
                    <a:lstStyle/>
                    <a:p>
                      <a:pPr algn="ctr"/>
                      <a:r>
                        <a:rPr lang="en-IN" sz="1200" dirty="0">
                          <a:latin typeface="Times New Roman" panose="02020603050405020304" pitchFamily="18" charset="0"/>
                          <a:cs typeface="Times New Roman" panose="02020603050405020304" pitchFamily="18" charset="0"/>
                        </a:rPr>
                        <a:t>2026</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FL + differential privacy + hybrid feature selection for multi-org IoT NIDS</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Formal DP guarantees; 8–15% accuracy gain; faster preprocessing</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Needs labeled data; trusted aggregator; simulated orgs</a:t>
                      </a:r>
                    </a:p>
                  </a:txBody>
                  <a:tcPr anchor="ctr">
                    <a:noFill/>
                  </a:tcPr>
                </a:tc>
                <a:extLst>
                  <a:ext uri="{0D108BD9-81ED-4DB2-BD59-A6C34878D82A}">
                    <a16:rowId xmlns:a16="http://schemas.microsoft.com/office/drawing/2014/main" val="10001"/>
                  </a:ext>
                </a:extLst>
              </a:tr>
              <a:tr h="728798">
                <a:tc>
                  <a:txBody>
                    <a:bodyPr/>
                    <a:lstStyle/>
                    <a:p>
                      <a:pPr algn="l"/>
                      <a:r>
                        <a:rPr lang="en-IN" sz="1100" dirty="0">
                          <a:latin typeface="Times New Roman" panose="02020603050405020304" pitchFamily="18" charset="0"/>
                          <a:cs typeface="Times New Roman" panose="02020603050405020304" pitchFamily="18" charset="0"/>
                        </a:rPr>
                        <a:t>Janati Idrissi et al. (Fed-ANIDS)</a:t>
                      </a:r>
                    </a:p>
                  </a:txBody>
                  <a:tcPr anchor="ctr">
                    <a:noFill/>
                  </a:tcPr>
                </a:tc>
                <a:tc>
                  <a:txBody>
                    <a:bodyPr/>
                    <a:lstStyle/>
                    <a:p>
                      <a:pPr algn="ctr"/>
                      <a:r>
                        <a:rPr lang="en-IN" sz="1200" dirty="0">
                          <a:latin typeface="Times New Roman" panose="02020603050405020304" pitchFamily="18" charset="0"/>
                          <a:cs typeface="Times New Roman" panose="02020603050405020304" pitchFamily="18" charset="0"/>
                        </a:rPr>
                        <a:t>2023</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FL + autoencoder-based anomaly detection with FedProx aggregation</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No labels needed; validated on multiple datasets</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No formal privacy guarantees; higher false positives</a:t>
                      </a:r>
                    </a:p>
                  </a:txBody>
                  <a:tcPr anchor="ctr">
                    <a:noFill/>
                  </a:tcPr>
                </a:tc>
                <a:extLst>
                  <a:ext uri="{0D108BD9-81ED-4DB2-BD59-A6C34878D82A}">
                    <a16:rowId xmlns:a16="http://schemas.microsoft.com/office/drawing/2014/main" val="10002"/>
                  </a:ext>
                </a:extLst>
              </a:tr>
              <a:tr h="728798">
                <a:tc>
                  <a:txBody>
                    <a:bodyPr/>
                    <a:lstStyle/>
                    <a:p>
                      <a:pPr algn="l"/>
                      <a:r>
                        <a:rPr lang="en-IN" sz="1100" dirty="0">
                          <a:latin typeface="Times New Roman" panose="02020603050405020304" pitchFamily="18" charset="0"/>
                          <a:cs typeface="Times New Roman" panose="02020603050405020304" pitchFamily="18" charset="0"/>
                        </a:rPr>
                        <a:t>Amiri-Zarandi et al. (SIDS)</a:t>
                      </a:r>
                    </a:p>
                  </a:txBody>
                  <a:tcPr anchor="ctr">
                    <a:noFill/>
                  </a:tcPr>
                </a:tc>
                <a:tc>
                  <a:txBody>
                    <a:bodyPr/>
                    <a:lstStyle/>
                    <a:p>
                      <a:pPr algn="ctr"/>
                      <a:r>
                        <a:rPr lang="en-IN" sz="1200" dirty="0">
                          <a:latin typeface="Times New Roman" panose="02020603050405020304" pitchFamily="18" charset="0"/>
                          <a:cs typeface="Times New Roman" panose="02020603050405020304" pitchFamily="18" charset="0"/>
                        </a:rPr>
                        <a:t>2023</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Social-trust-weighted FL for intrusion detection in Social IoT</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Robust to malicious / dishonest participants</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Needs a social trust graph; no DP; single dataset</a:t>
                      </a:r>
                    </a:p>
                  </a:txBody>
                  <a:tcPr anchor="ctr">
                    <a:noFill/>
                  </a:tcPr>
                </a:tc>
                <a:extLst>
                  <a:ext uri="{0D108BD9-81ED-4DB2-BD59-A6C34878D82A}">
                    <a16:rowId xmlns:a16="http://schemas.microsoft.com/office/drawing/2014/main" val="10003"/>
                  </a:ext>
                </a:extLst>
              </a:tr>
              <a:tr h="728798">
                <a:tc>
                  <a:txBody>
                    <a:bodyPr/>
                    <a:lstStyle/>
                    <a:p>
                      <a:pPr algn="l"/>
                      <a:r>
                        <a:rPr lang="en-IN" sz="1100" dirty="0">
                          <a:latin typeface="Times New Roman" panose="02020603050405020304" pitchFamily="18" charset="0"/>
                          <a:cs typeface="Times New Roman" panose="02020603050405020304" pitchFamily="18" charset="0"/>
                        </a:rPr>
                        <a:t>Liu et al. (VFL Survey)</a:t>
                      </a:r>
                    </a:p>
                  </a:txBody>
                  <a:tcPr anchor="ctr">
                    <a:noFill/>
                  </a:tcPr>
                </a:tc>
                <a:tc>
                  <a:txBody>
                    <a:bodyPr/>
                    <a:lstStyle/>
                    <a:p>
                      <a:pPr algn="ctr"/>
                      <a:r>
                        <a:rPr lang="en-IN" sz="1200" dirty="0">
                          <a:latin typeface="Times New Roman" panose="02020603050405020304" pitchFamily="18" charset="0"/>
                          <a:cs typeface="Times New Roman" panose="02020603050405020304" pitchFamily="18" charset="0"/>
                        </a:rPr>
                        <a:t>2024</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Survey of Vertical Federated Learning concepts, advances &amp; challenges</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Comprehensive taxonomy of VFL techniques</a:t>
                      </a:r>
                    </a:p>
                  </a:txBody>
                  <a:tcPr anchor="ctr">
                    <a:noFill/>
                  </a:tcPr>
                </a:tc>
                <a:tc>
                  <a:txBody>
                    <a:bodyPr/>
                    <a:lstStyle/>
                    <a:p>
                      <a:pPr algn="l"/>
                      <a:r>
                        <a:rPr lang="en-IN" sz="1000" dirty="0">
                          <a:latin typeface="Times New Roman" panose="02020603050405020304" pitchFamily="18" charset="0"/>
                          <a:cs typeface="Times New Roman" panose="02020603050405020304" pitchFamily="18" charset="0"/>
                        </a:rPr>
                        <a:t>Conceptual survey; no new experimental system</a:t>
                      </a:r>
                    </a:p>
                  </a:txBody>
                  <a:tcPr anchor="ctr">
                    <a:no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8585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A7E60D7-07A0-BF33-3E66-E2F8C99B0E41}"/>
              </a:ext>
            </a:extLst>
          </p:cNvPr>
          <p:cNvSpPr/>
          <p:nvPr/>
        </p:nvSpPr>
        <p:spPr>
          <a:xfrm>
            <a:off x="-1" y="6980"/>
            <a:ext cx="12192000" cy="837398"/>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dirty="0">
              <a:solidFill>
                <a:srgbClr val="FFFF00"/>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73598CB1-43FE-F616-74FA-6AEE59FA6BF1}"/>
              </a:ext>
            </a:extLst>
          </p:cNvPr>
          <p:cNvSpPr/>
          <p:nvPr/>
        </p:nvSpPr>
        <p:spPr>
          <a:xfrm>
            <a:off x="0" y="6451517"/>
            <a:ext cx="12192000" cy="393289"/>
          </a:xfrm>
          <a:prstGeom prst="rect">
            <a:avLst/>
          </a:prstGeom>
          <a:solidFill>
            <a:srgbClr val="E77E69"/>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IN"/>
          </a:p>
        </p:txBody>
      </p:sp>
      <p:sp>
        <p:nvSpPr>
          <p:cNvPr id="11" name="Date Placeholder 10">
            <a:extLst>
              <a:ext uri="{FF2B5EF4-FFF2-40B4-BE49-F238E27FC236}">
                <a16:creationId xmlns:a16="http://schemas.microsoft.com/office/drawing/2014/main" id="{87C7729E-193F-258C-8EF4-20F3CCBF18C9}"/>
              </a:ext>
            </a:extLst>
          </p:cNvPr>
          <p:cNvSpPr>
            <a:spLocks noGrp="1"/>
          </p:cNvSpPr>
          <p:nvPr>
            <p:ph type="dt" sz="half" idx="10"/>
          </p:nvPr>
        </p:nvSpPr>
        <p:spPr>
          <a:xfrm>
            <a:off x="0" y="6460922"/>
            <a:ext cx="997974" cy="365125"/>
          </a:xfrm>
        </p:spPr>
        <p:txBody>
          <a:bodyPr/>
          <a:lstStyle/>
          <a:p>
            <a:fld id="{C72AAC90-D07C-417D-96C6-81B39DB87062}" type="datetime1">
              <a:rPr lang="en-IN" smtClean="0">
                <a:solidFill>
                  <a:schemeClr val="tx1"/>
                </a:solidFill>
              </a:rPr>
              <a:t>16-09-2026</a:t>
            </a:fld>
            <a:endParaRPr lang="en-IN" dirty="0">
              <a:solidFill>
                <a:schemeClr val="tx1"/>
              </a:solidFill>
            </a:endParaRPr>
          </a:p>
        </p:txBody>
      </p:sp>
      <p:sp>
        <p:nvSpPr>
          <p:cNvPr id="13" name="Slide Number Placeholder 12">
            <a:extLst>
              <a:ext uri="{FF2B5EF4-FFF2-40B4-BE49-F238E27FC236}">
                <a16:creationId xmlns:a16="http://schemas.microsoft.com/office/drawing/2014/main" id="{AC4BF904-2B4D-1986-6D4C-27CBD9A5EFA4}"/>
              </a:ext>
            </a:extLst>
          </p:cNvPr>
          <p:cNvSpPr>
            <a:spLocks noGrp="1"/>
          </p:cNvSpPr>
          <p:nvPr>
            <p:ph type="sldNum" sz="quarter" idx="12"/>
          </p:nvPr>
        </p:nvSpPr>
        <p:spPr>
          <a:xfrm>
            <a:off x="11227443" y="6478792"/>
            <a:ext cx="876067" cy="379208"/>
          </a:xfrm>
        </p:spPr>
        <p:txBody>
          <a:bodyPr/>
          <a:lstStyle/>
          <a:p>
            <a:fld id="{0F06A4E2-163B-4ABA-8562-AD05AC3F17C5}" type="slidenum">
              <a:rPr lang="en-IN" sz="1800" smtClean="0">
                <a:solidFill>
                  <a:schemeClr val="tx1"/>
                </a:solidFill>
              </a:rPr>
              <a:t>19</a:t>
            </a:fld>
            <a:endParaRPr lang="en-IN" sz="1800" dirty="0">
              <a:solidFill>
                <a:schemeClr val="tx1"/>
              </a:solidFill>
            </a:endParaRPr>
          </a:p>
        </p:txBody>
      </p:sp>
      <p:sp>
        <p:nvSpPr>
          <p:cNvPr id="15" name="TextBox 14">
            <a:extLst>
              <a:ext uri="{FF2B5EF4-FFF2-40B4-BE49-F238E27FC236}">
                <a16:creationId xmlns:a16="http://schemas.microsoft.com/office/drawing/2014/main" id="{D13CE1DE-D210-C7A2-61C0-FF7B6B511F8A}"/>
              </a:ext>
            </a:extLst>
          </p:cNvPr>
          <p:cNvSpPr txBox="1"/>
          <p:nvPr/>
        </p:nvSpPr>
        <p:spPr>
          <a:xfrm flipH="1">
            <a:off x="135927" y="877163"/>
            <a:ext cx="7167697"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Review – 1 </a:t>
            </a:r>
          </a:p>
        </p:txBody>
      </p:sp>
      <p:sp>
        <p:nvSpPr>
          <p:cNvPr id="2" name="TextBox 1">
            <a:extLst>
              <a:ext uri="{FF2B5EF4-FFF2-40B4-BE49-F238E27FC236}">
                <a16:creationId xmlns:a16="http://schemas.microsoft.com/office/drawing/2014/main" id="{50EC79EE-C1C4-E275-0987-67B7B3A60CCB}"/>
              </a:ext>
            </a:extLst>
          </p:cNvPr>
          <p:cNvSpPr txBox="1"/>
          <p:nvPr/>
        </p:nvSpPr>
        <p:spPr>
          <a:xfrm>
            <a:off x="8955476" y="31393"/>
            <a:ext cx="3148033" cy="830997"/>
          </a:xfrm>
          <a:prstGeom prst="rect">
            <a:avLst/>
          </a:prstGeom>
          <a:noFill/>
        </p:spPr>
        <p:txBody>
          <a:bodyPr wrap="square" rtlCol="0">
            <a:spAutoFit/>
          </a:bodyPr>
          <a:lstStyle/>
          <a:p>
            <a:r>
              <a:rPr lang="en-IN" sz="1200" dirty="0">
                <a:latin typeface="Times New Roman" panose="02020603050405020304" pitchFamily="18" charset="0"/>
                <a:cs typeface="Times New Roman" panose="02020603050405020304" pitchFamily="18" charset="0"/>
              </a:rPr>
              <a:t>Guide: Dr. Gayatri</a:t>
            </a:r>
          </a:p>
          <a:p>
            <a:r>
              <a:rPr lang="en-IN" sz="1200" dirty="0">
                <a:latin typeface="Times New Roman" panose="02020603050405020304" pitchFamily="18" charset="0"/>
                <a:cs typeface="Times New Roman" panose="02020603050405020304" pitchFamily="18" charset="0"/>
              </a:rPr>
              <a:t>Batch ID: AIML-A4</a:t>
            </a:r>
          </a:p>
          <a:p>
            <a:r>
              <a:rPr lang="en-IN" sz="1200" dirty="0" err="1">
                <a:latin typeface="Times New Roman" panose="02020603050405020304" pitchFamily="18" charset="0"/>
                <a:cs typeface="Times New Roman" panose="02020603050405020304" pitchFamily="18" charset="0"/>
              </a:rPr>
              <a:t>Regd No: </a:t>
            </a:r>
            <a:r>
              <a:rPr lang="en-IN" sz="1200" dirty="0">
                <a:latin typeface="Times New Roman" panose="02020603050405020304" pitchFamily="18" charset="0"/>
                <a:cs typeface="Times New Roman" panose="02020603050405020304" pitchFamily="18" charset="0"/>
              </a:rPr>
              <a:t> 23BQ1A6140 (TL),  23BQ1A6139,</a:t>
            </a:r>
          </a:p>
          <a:p>
            <a:r>
              <a:rPr lang="en-IN" sz="1200" dirty="0">
                <a:latin typeface="Times New Roman" panose="02020603050405020304" pitchFamily="18" charset="0"/>
                <a:cs typeface="Times New Roman" panose="02020603050405020304" pitchFamily="18" charset="0"/>
              </a:rPr>
              <a:t> 23BQ1A6112,  24BQ5A6124</a:t>
            </a:r>
            <a:endParaRPr lang="en-IN" dirty="0"/>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186" y="92353"/>
            <a:ext cx="993618" cy="693462"/>
          </a:xfrm>
          <a:prstGeom prst="rect">
            <a:avLst/>
          </a:prstGeom>
        </p:spPr>
      </p:pic>
      <p:sp>
        <p:nvSpPr>
          <p:cNvPr id="14" name="TextBox 13">
            <a:extLst>
              <a:ext uri="{FF2B5EF4-FFF2-40B4-BE49-F238E27FC236}">
                <a16:creationId xmlns:a16="http://schemas.microsoft.com/office/drawing/2014/main" id="{50EC79EE-C1C4-E275-0987-67B7B3A60CCB}"/>
              </a:ext>
            </a:extLst>
          </p:cNvPr>
          <p:cNvSpPr txBox="1"/>
          <p:nvPr/>
        </p:nvSpPr>
        <p:spPr>
          <a:xfrm>
            <a:off x="1531467" y="82617"/>
            <a:ext cx="7424010"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Secure IoT Intrusion Detection System</a:t>
            </a:r>
          </a:p>
          <a:p>
            <a:r>
              <a:rPr lang="en-IN" dirty="0">
                <a:latin typeface="Times New Roman" panose="02020603050405020304" pitchFamily="18" charset="0"/>
                <a:cs typeface="Times New Roman" panose="02020603050405020304" pitchFamily="18" charset="0"/>
              </a:rPr>
              <a:t>Privacy-Preserving Federated Learning for IoT (FedPrIDS)</a:t>
            </a:r>
          </a:p>
        </p:txBody>
      </p:sp>
      <p:sp>
        <p:nvSpPr>
          <p:cNvPr id="16" name="Footer Placeholder 11">
            <a:extLst>
              <a:ext uri="{FF2B5EF4-FFF2-40B4-BE49-F238E27FC236}">
                <a16:creationId xmlns:a16="http://schemas.microsoft.com/office/drawing/2014/main" id="{D814EF05-CC25-9D43-57B5-90EDB1ED147B}"/>
              </a:ext>
            </a:extLst>
          </p:cNvPr>
          <p:cNvSpPr>
            <a:spLocks noGrp="1"/>
          </p:cNvSpPr>
          <p:nvPr>
            <p:ph type="ftr" sz="quarter" idx="11"/>
          </p:nvPr>
        </p:nvSpPr>
        <p:spPr>
          <a:xfrm>
            <a:off x="3999271" y="6460922"/>
            <a:ext cx="4114800" cy="365125"/>
          </a:xfrm>
        </p:spPr>
        <p:txBody>
          <a:bodyPr/>
          <a:lstStyle/>
          <a:p>
            <a:r>
              <a:rPr lang="en-IN" dirty="0">
                <a:solidFill>
                  <a:schemeClr val="tx1"/>
                </a:solidFill>
              </a:rPr>
              <a:t>Dept. AIML @ VVIT</a:t>
            </a:r>
          </a:p>
        </p:txBody>
      </p:sp>
      <p:sp>
        <p:nvSpPr>
          <p:cNvPr id="6" name="TextBox 5"/>
          <p:cNvSpPr txBox="1"/>
          <p:nvPr/>
        </p:nvSpPr>
        <p:spPr>
          <a:xfrm>
            <a:off x="4641448" y="3010622"/>
            <a:ext cx="2236510" cy="646331"/>
          </a:xfrm>
          <a:prstGeom prst="rect">
            <a:avLst/>
          </a:prstGeom>
          <a:noFill/>
        </p:spPr>
        <p:txBody>
          <a:bodyPr wrap="none" rtlCol="0">
            <a:spAutoFit/>
          </a:bodyPr>
          <a:lstStyle/>
          <a:p>
            <a:r>
              <a:rPr lang="en-IN" sz="3600"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1322043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TotalTime>
  <Words>3530</Words>
  <Application>Microsoft Office PowerPoint</Application>
  <PresentationFormat>Widescreen</PresentationFormat>
  <Paragraphs>410</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Calibri Light</vt:lpstr>
      <vt:lpstr>Sitka Text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mualidhar V</dc:creator>
  <cp:lastModifiedBy>Guddanti Vijayalakshmi</cp:lastModifiedBy>
  <cp:revision>50</cp:revision>
  <dcterms:created xsi:type="dcterms:W3CDTF">2023-07-18T12:47:32Z</dcterms:created>
  <dcterms:modified xsi:type="dcterms:W3CDTF">2026-09-16T04:54:25Z</dcterms:modified>
</cp:coreProperties>
</file>